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47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871272"/>
            <a:ext cx="1845057" cy="3727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800"/>
              </a:lnSpc>
              <a:buNone/>
            </a:pPr>
            <a:r>
              <a:rPr lang="en-US" sz="28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</a:t>
            </a:r>
            <a:endParaRPr lang="en-US" sz="2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2438195"/>
            <a:ext cx="3173433" cy="707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sz="23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Evidence-first AI for loan decisions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0641" y="3174486"/>
            <a:ext cx="5177768" cy="14619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Understand the fine print before it costs you.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35018" y="0"/>
            <a:ext cx="3108927" cy="514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283" y="-10894"/>
            <a:ext cx="3428944" cy="51434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18" y="4304109"/>
            <a:ext cx="3108927" cy="839391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755" y="4479131"/>
            <a:ext cx="71438" cy="714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63630" y="4432697"/>
            <a:ext cx="186490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Built for inspectable decisions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220755" y="4668441"/>
            <a:ext cx="2737452" cy="38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sz="1200" b="0">
                <a:solidFill>
                  <a:srgbClr val="565E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loan documents · Plain-language explanations · Evidence-linked answers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39B6B-29D3-30AA-B244-6E8765D3F572}"/>
              </a:ext>
            </a:extLst>
          </p:cNvPr>
          <p:cNvSpPr txBox="1"/>
          <p:nvPr/>
        </p:nvSpPr>
        <p:spPr>
          <a:xfrm>
            <a:off x="350454" y="3331470"/>
            <a:ext cx="46139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IN"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IN" sz="1000" b="1" dirty="0" err="1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CodeFlex</a:t>
            </a:r>
            <a:endParaRPr lang="en-IN" sz="1000" b="1" dirty="0">
              <a:solidFill>
                <a:srgbClr val="F47B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Members: Samadhan Mane</a:t>
            </a:r>
          </a:p>
          <a:p>
            <a:r>
              <a:rPr lang="en-IN"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Sakshi </a:t>
            </a:r>
            <a:r>
              <a:rPr lang="en-IN" sz="1000" b="1" dirty="0" err="1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Bhingarkar</a:t>
            </a:r>
            <a:endParaRPr lang="en-IN" sz="1000" b="1" dirty="0">
              <a:solidFill>
                <a:srgbClr val="F47B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Pranav </a:t>
            </a:r>
            <a:r>
              <a:rPr lang="en-IN" sz="1000" b="1" dirty="0" err="1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Karande</a:t>
            </a:r>
            <a:endParaRPr lang="en-IN" sz="1000" b="1" dirty="0">
              <a:solidFill>
                <a:srgbClr val="F47B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6888" y="4014216"/>
            <a:ext cx="5212080" cy="71323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93" y="4224022"/>
            <a:ext cx="5943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4196" y="4133173"/>
            <a:ext cx="4114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Borrowers comparing personal loans and trying to understand real cost before committing.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707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3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 BORROWERS SEE THE RATE, BUT NOT THE FULL DECISION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06092" y="1280295"/>
            <a:ext cx="4644889" cy="3714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1411560"/>
            <a:ext cx="4359139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FICTIONAL LOAN COMPARISON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0873" y="2151851"/>
            <a:ext cx="4359139" cy="34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Primary user: a financially inexperienced consumer comparing a loan and planning to repay early.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8612" y="2655132"/>
            <a:ext cx="2136707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8611" y="2594409"/>
            <a:ext cx="2136707" cy="35719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0529" y="2759106"/>
            <a:ext cx="193668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 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0529" y="3023424"/>
            <a:ext cx="81753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10.5%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0529" y="3380612"/>
            <a:ext cx="193668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HEADLINE APR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529" y="3548490"/>
            <a:ext cx="921727" cy="191847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+ 2%</a:t>
            </a: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processing fee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0529" y="3814595"/>
            <a:ext cx="1591782" cy="191847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 possible</a:t>
            </a: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early-repayment charge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633305" y="2655132"/>
            <a:ext cx="2136707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633305" y="2590838"/>
            <a:ext cx="2136707" cy="35719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733317" y="2755145"/>
            <a:ext cx="193668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 B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733317" y="3019463"/>
            <a:ext cx="80163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11.2%</a:t>
            </a:r>
            <a:endParaRPr lang="en-US" sz="2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733317" y="3376651"/>
            <a:ext cx="193668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HEADLINE APR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733317" y="3544529"/>
            <a:ext cx="795089" cy="194797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 $2,000</a:t>
            </a: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fixed fee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733317" y="3810634"/>
            <a:ext cx="1229504" cy="191847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 no fee</a:t>
            </a: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after stated period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96585" y="4317152"/>
            <a:ext cx="4359139" cy="40716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What looks cheaper at first glance can change after </a:t>
            </a:r>
            <a:r>
              <a:rPr lang="en-US" sz="9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fees + conditions + timing</a:t>
            </a: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are included.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59264" y="1311548"/>
            <a:ext cx="3356111" cy="539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first user is not “everyone.” It is a borrower who needs a decision, not a document summary.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359264" y="2038034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616439" y="2038034"/>
            <a:ext cx="3098936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Headline claims are easy to compare; the conditions that determine actual cost are not.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359264" y="2463757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616439" y="2463757"/>
            <a:ext cx="3098936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user must search manually, interpret terminology, compare clauses, and calculate consequences.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359264" y="2889479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616439" y="2889479"/>
            <a:ext cx="3098936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 is designed to make that chain inspectable before the commitment.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359264" y="3479509"/>
            <a:ext cx="32220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59%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802455" y="3531021"/>
            <a:ext cx="2585644" cy="119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had a major unexpected expense in the prior 12 months.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359264" y="3808121"/>
            <a:ext cx="32220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16%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802455" y="3875735"/>
            <a:ext cx="1703993" cy="1193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did not pay all bills in the prior month.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359264" y="4136734"/>
            <a:ext cx="32220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63%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802455" y="4136734"/>
            <a:ext cx="2912920" cy="24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could cover a hypothetical $400 emergency with cash or its equivalent.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E54F7E-9DE6-1C46-D567-FFDF6FD393CB}"/>
              </a:ext>
            </a:extLst>
          </p:cNvPr>
          <p:cNvSpPr txBox="1"/>
          <p:nvPr/>
        </p:nvSpPr>
        <p:spPr>
          <a:xfrm>
            <a:off x="5359264" y="4613953"/>
            <a:ext cx="28229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Federal Reserve, SHED 2025, released May 2026. . </a:t>
            </a:r>
            <a:endParaRPr lang="en-IN" sz="8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91829" y="1068661"/>
            <a:ext cx="4273414" cy="972863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9681" y="1085253"/>
            <a:ext cx="1762932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681" y="1259772"/>
            <a:ext cx="4194714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comparing loans, borrowers often see a headline APR but must manually find fees, penalties, eligibility rules and repayment conditions across multiple documents to determine the actual cost for their situation.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285750"/>
            <a:ext cx="8286750" cy="318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sz="2300" b="1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THIS MATTERS FOR LOAN DECISIONS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55629" y="2723386"/>
            <a:ext cx="4486945" cy="22659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3338" y="3058579"/>
            <a:ext cx="408689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2024 NFCS knowledge indicators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3338" y="3390763"/>
            <a:ext cx="1357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Answered ≥5 of 7 knowledge questions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810651" y="3403265"/>
            <a:ext cx="2200945" cy="2428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81160" y="3444341"/>
            <a:ext cx="359073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27%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3338" y="3815816"/>
            <a:ext cx="1357313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Answered inflation question correctly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10651" y="3828318"/>
            <a:ext cx="2200945" cy="2428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285356" y="3869394"/>
            <a:ext cx="2548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58%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3338" y="4240869"/>
            <a:ext cx="135731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Age 18–34: inflation question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810651" y="4253371"/>
            <a:ext cx="2200945" cy="242888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285356" y="4294447"/>
            <a:ext cx="25487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44%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3338" y="4665922"/>
            <a:ext cx="4086895" cy="9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[2] FINRA Foundation / FINRA, 2024 NFCS findings, released April 2025.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01320" y="941365"/>
            <a:ext cx="3625993" cy="37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The real challenge isn't finding information. </a:t>
            </a:r>
          </a:p>
          <a:p>
            <a:pPr>
              <a:lnSpc>
                <a:spcPct val="104000"/>
              </a:lnSpc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It's understanding what it means for the decision.</a:t>
            </a:r>
            <a:endParaRPr lang="en-US" sz="1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210554" y="1590265"/>
            <a:ext cx="12824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13081" y="1830499"/>
            <a:ext cx="2859757" cy="278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terms are spread across rates, fee schedules,</a:t>
            </a:r>
          </a:p>
          <a:p>
            <a:pPr>
              <a:lnSpc>
                <a:spcPct val="104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eligibility rules and repayment conditions.</a:t>
            </a:r>
            <a:endParaRPr lang="en-US" sz="85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201385" y="2286381"/>
            <a:ext cx="12824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13146" y="2530771"/>
            <a:ext cx="2096728" cy="278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terminology and exceptions are</a:t>
            </a:r>
          </a:p>
          <a:p>
            <a:pPr>
              <a:lnSpc>
                <a:spcPct val="104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to interpret quickly.</a:t>
            </a:r>
          </a:p>
        </p:txBody>
      </p:sp>
      <p:sp>
        <p:nvSpPr>
          <p:cNvPr id="21" name="Text 18"/>
          <p:cNvSpPr/>
          <p:nvPr/>
        </p:nvSpPr>
        <p:spPr>
          <a:xfrm>
            <a:off x="5194264" y="2989231"/>
            <a:ext cx="12824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513081" y="2687222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201320" y="3050437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501357" y="3050437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201320" y="3579075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501357" y="3589790"/>
            <a:ext cx="65" cy="1308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277498" y="4130948"/>
            <a:ext cx="3514055" cy="462050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Fin-Explain turns this scattered information into an</a:t>
            </a:r>
          </a:p>
          <a:p>
            <a:pPr>
              <a:lnSpc>
                <a:spcPct val="1080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evidence backed decision journey.</a:t>
            </a:r>
          </a:p>
        </p:txBody>
      </p:sp>
      <p:sp>
        <p:nvSpPr>
          <p:cNvPr id="28" name="Text 25"/>
          <p:cNvSpPr/>
          <p:nvPr/>
        </p:nvSpPr>
        <p:spPr>
          <a:xfrm>
            <a:off x="5201320" y="4772081"/>
            <a:ext cx="3514055" cy="126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 FINRA Foundation / FINRA, 2024 NFCS findings, released April 2025</a:t>
            </a:r>
            <a:endParaRPr lang="en-US" sz="65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19850D-C3FE-0F27-7923-B3857E577DE1}"/>
              </a:ext>
            </a:extLst>
          </p:cNvPr>
          <p:cNvCxnSpPr>
            <a:cxnSpLocks/>
          </p:cNvCxnSpPr>
          <p:nvPr/>
        </p:nvCxnSpPr>
        <p:spPr>
          <a:xfrm flipH="1">
            <a:off x="5277433" y="1825410"/>
            <a:ext cx="65" cy="345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FDE313B-EBC4-ADF1-6FD6-B5979CAC2BAE}"/>
              </a:ext>
            </a:extLst>
          </p:cNvPr>
          <p:cNvSpPr txBox="1"/>
          <p:nvPr/>
        </p:nvSpPr>
        <p:spPr>
          <a:xfrm>
            <a:off x="5424867" y="1509876"/>
            <a:ext cx="676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95B207-3C2B-19CC-6C80-B111F7C1AE2B}"/>
              </a:ext>
            </a:extLst>
          </p:cNvPr>
          <p:cNvSpPr txBox="1"/>
          <p:nvPr/>
        </p:nvSpPr>
        <p:spPr>
          <a:xfrm>
            <a:off x="5424867" y="2190340"/>
            <a:ext cx="1466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CEC6411-27EB-1983-4B58-EB1E209A0241}"/>
              </a:ext>
            </a:extLst>
          </p:cNvPr>
          <p:cNvCxnSpPr>
            <a:cxnSpLocks/>
          </p:cNvCxnSpPr>
          <p:nvPr/>
        </p:nvCxnSpPr>
        <p:spPr>
          <a:xfrm flipH="1">
            <a:off x="5263538" y="2501165"/>
            <a:ext cx="65" cy="345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BF4A4AC-B158-3BB8-F5F8-3663BE7624DE}"/>
              </a:ext>
            </a:extLst>
          </p:cNvPr>
          <p:cNvSpPr txBox="1"/>
          <p:nvPr/>
        </p:nvSpPr>
        <p:spPr>
          <a:xfrm>
            <a:off x="5408577" y="2882469"/>
            <a:ext cx="1133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Compare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C1DEED-A0C6-0169-048A-6BAB461DEFA0}"/>
              </a:ext>
            </a:extLst>
          </p:cNvPr>
          <p:cNvSpPr txBox="1"/>
          <p:nvPr/>
        </p:nvSpPr>
        <p:spPr>
          <a:xfrm>
            <a:off x="5408577" y="3205266"/>
            <a:ext cx="2964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must connect those clauses and calculate how </a:t>
            </a:r>
          </a:p>
          <a:p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affect their specific situation.</a:t>
            </a:r>
            <a:endParaRPr lang="en-IN" sz="9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90273A-0C69-1346-C58F-D06E9BCF24D3}"/>
              </a:ext>
            </a:extLst>
          </p:cNvPr>
          <p:cNvCxnSpPr>
            <a:cxnSpLocks/>
          </p:cNvCxnSpPr>
          <p:nvPr/>
        </p:nvCxnSpPr>
        <p:spPr>
          <a:xfrm flipH="1">
            <a:off x="5263538" y="3209592"/>
            <a:ext cx="65" cy="345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55629" y="945637"/>
            <a:ext cx="4486750" cy="13258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52185" y="1488160"/>
            <a:ext cx="777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6581" y="1244184"/>
            <a:ext cx="3337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exists. The missing layer is connecting scattered loan clauses to one borrower scenario with evidence, calculations and clear 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53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3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GAP FINEXPLAIN ADDRESSES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615740"/>
            <a:ext cx="6945812" cy="2631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fine print is distributed across documents not decisions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8625" y="1028700"/>
            <a:ext cx="4488396" cy="3942011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1513" y="1271588"/>
            <a:ext cx="400262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From headline claim to verifiable choice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1513" y="1632347"/>
            <a:ext cx="300038" cy="300038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266" y="1705422"/>
            <a:ext cx="7053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1632347"/>
            <a:ext cx="3531133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Headline claim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43000" y="1835944"/>
            <a:ext cx="3357563" cy="285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short advertisement foregrounds an attractive rate, reward, or “low-cost” promise.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43000" y="2267694"/>
            <a:ext cx="624632" cy="2464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43000" y="2492722"/>
            <a:ext cx="624632" cy="214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43000" y="2267694"/>
            <a:ext cx="624632" cy="246459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10.5% APR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839069" y="2267694"/>
            <a:ext cx="530033" cy="2250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839069" y="2267694"/>
            <a:ext cx="518091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“Low fee”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71513" y="2764185"/>
            <a:ext cx="300038" cy="30003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266" y="2837260"/>
            <a:ext cx="7053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43000" y="2764185"/>
            <a:ext cx="3531133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Distributed fine print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" y="2967782"/>
            <a:ext cx="3357563" cy="285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Fees, exceptions, late-payment rules, eligibility, and early-repayment conditions sit across schedules and terms.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143000" y="3399532"/>
            <a:ext cx="700478" cy="2250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43000" y="3399532"/>
            <a:ext cx="673582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 schedule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914916" y="3399532"/>
            <a:ext cx="530089" cy="2250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914916" y="3399532"/>
            <a:ext cx="519694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Section 8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516442" y="3399532"/>
            <a:ext cx="684851" cy="2250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516442" y="3399532"/>
            <a:ext cx="662361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Eligibility rule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71513" y="3896023"/>
            <a:ext cx="300038" cy="300038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86266" y="3969098"/>
            <a:ext cx="7053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143000" y="3896023"/>
            <a:ext cx="3531133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Verifiable choice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43000" y="4099620"/>
            <a:ext cx="3357563" cy="285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user needs an explanation that connects the decision to exact clauses, dates, and uncertainty.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143000" y="4531370"/>
            <a:ext cx="1236873" cy="2464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143000" y="4756398"/>
            <a:ext cx="1236873" cy="214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143000" y="4531370"/>
            <a:ext cx="1152880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What the document says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451311" y="4531370"/>
            <a:ext cx="710580" cy="2250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451311" y="4531370"/>
            <a:ext cx="678391" cy="237501"/>
          </a:xfrm>
          <a:prstGeom prst="rect">
            <a:avLst/>
          </a:prstGeom>
          <a:noFill/>
          <a:ln/>
        </p:spPr>
        <p:txBody>
          <a:bodyPr wrap="none" lIns="85090" tIns="68072" rIns="8509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What to verify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202771" y="1297345"/>
            <a:ext cx="3071813" cy="166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THE GAP FINEXPLAIN ADDRESSES </a:t>
            </a:r>
            <a:endParaRPr 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207058" y="1782613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474233" y="1759090"/>
            <a:ext cx="3241142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 rates are easy to compare. 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 cost is not</a:t>
            </a:r>
          </a:p>
        </p:txBody>
      </p:sp>
      <p:sp>
        <p:nvSpPr>
          <p:cNvPr id="38" name="Text 35"/>
          <p:cNvSpPr/>
          <p:nvPr/>
        </p:nvSpPr>
        <p:spPr>
          <a:xfrm>
            <a:off x="5213244" y="2361096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475293" y="2336563"/>
            <a:ext cx="2526767" cy="301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must manually find, interpret and connect 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clauses across documents.</a:t>
            </a:r>
          </a:p>
        </p:txBody>
      </p:sp>
      <p:sp>
        <p:nvSpPr>
          <p:cNvPr id="40" name="Text 37"/>
          <p:cNvSpPr/>
          <p:nvPr/>
        </p:nvSpPr>
        <p:spPr>
          <a:xfrm>
            <a:off x="5202771" y="2938570"/>
            <a:ext cx="1410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475293" y="2889305"/>
            <a:ext cx="2255495" cy="301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or conflicting information should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exposed, not guessed. </a:t>
            </a:r>
          </a:p>
        </p:txBody>
      </p:sp>
      <p:sp>
        <p:nvSpPr>
          <p:cNvPr id="42" name="Text 39"/>
          <p:cNvSpPr/>
          <p:nvPr/>
        </p:nvSpPr>
        <p:spPr>
          <a:xfrm>
            <a:off x="5202771" y="3345173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474233" y="3345173"/>
            <a:ext cx="3241142" cy="146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202769" y="3687052"/>
            <a:ext cx="3071813" cy="883896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sz="1500" b="1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FinExplain connects scattered loan evidence into an inspectable decision.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6572250" cy="59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sz="2100" b="1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SOLUTION: TURN LOAN DOCUMENTS INTO A TRANSPARENT DECISION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8626" y="1152935"/>
            <a:ext cx="4597188" cy="307552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57225" y="1644179"/>
            <a:ext cx="419042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DECISION JOURNEY GROUNDED IN SOURCE DOCUMENTS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7225" y="1990651"/>
            <a:ext cx="298159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7225" y="2419276"/>
            <a:ext cx="28052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7225" y="2701454"/>
            <a:ext cx="1149139" cy="74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Select one or more products, upload documents, and ask about fees, penalties, eligibility, or repayment.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177839" y="1990651"/>
            <a:ext cx="298159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177839" y="2419276"/>
            <a:ext cx="66524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Compare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177839" y="2701454"/>
            <a:ext cx="1149139" cy="89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See important terms side by side, including headline rates, conditions, exclusions, and potential cost drivers.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8453" y="1990651"/>
            <a:ext cx="298159" cy="258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</a:t>
            </a: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8453" y="2419276"/>
            <a:ext cx="41793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98453" y="2701454"/>
            <a:ext cx="1149139" cy="74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Open the exact source section, page, and retrieved passage supporting each material claim.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7225" y="3831322"/>
            <a:ext cx="4190423" cy="31848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Example question:</a:t>
            </a:r>
            <a:r>
              <a:rPr lang="en-US" sz="90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“Which conditions could make this product more expensive?”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61998" y="1441642"/>
            <a:ext cx="335337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Every answer separates meaning from evidence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61998" y="1955992"/>
            <a:ext cx="335337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PLAIN-LANGUAGE EXPLANATION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361998" y="2127442"/>
            <a:ext cx="3353377" cy="31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assistant translates complex terms without removing qualifications or exceptions.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61998" y="2780314"/>
            <a:ext cx="335337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COMPARISON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61998" y="2951764"/>
            <a:ext cx="3353377" cy="31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Rates, fees, repayment conditions, and eligibility appear in a consistent format.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61998" y="3604636"/>
            <a:ext cx="3353377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UNCERTAINTY BEHAVIOR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361998" y="3776086"/>
            <a:ext cx="3353377" cy="31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specified</a:t>
            </a:r>
            <a:r>
              <a:rPr lang="en-US" sz="9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when the available documents do not contain the requested detail.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1168292"/>
            <a:ext cx="8007650" cy="65836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7" y="1335023"/>
            <a:ext cx="87917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434" y="1298725"/>
            <a:ext cx="72659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official loan documents → retrieve relevant clauses → compare terms → calculate scenario cost → explain in plain language → verify every material claim.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626" y="4423840"/>
            <a:ext cx="8481694" cy="608895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8625" y="4602387"/>
            <a:ext cx="94195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169" y="4673325"/>
            <a:ext cx="7685151" cy="24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Evidence-linked answers · Structured loan comparison · Scenario cost calculation · Missing-info flags · Conflict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4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1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85788" y="1071563"/>
            <a:ext cx="425108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One category, one auditable journey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5788" y="1293019"/>
            <a:ext cx="400050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Start with personal loans or credit cards, where rates, hidden fees, and repayment conditions directly affect consumer decisions.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5788" y="1710928"/>
            <a:ext cx="4251089" cy="478272"/>
          </a:xfrm>
          <a:prstGeom prst="rect">
            <a:avLst/>
          </a:prstGeom>
          <a:noFill/>
          <a:ln/>
        </p:spPr>
        <p:txBody>
          <a:bodyPr wrap="square" lIns="0" tIns="102108" rIns="0" bIns="102108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Primary user:</a:t>
            </a: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financially inexperienced consumers comparing loans or credit cards who need a clear answer before committing.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483793"/>
            <a:ext cx="495007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· SCOPE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2655243"/>
            <a:ext cx="1003480" cy="148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Personal loans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" y="2885238"/>
            <a:ext cx="1209861" cy="36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Ingest two or three product document sets with dates and source metadata.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3461705"/>
            <a:ext cx="799899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Upload + parse PDFs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" y="3627797"/>
            <a:ext cx="1209861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Preserve sections and pages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102830" y="2483793"/>
            <a:ext cx="495007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 · PROVE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102830" y="2655243"/>
            <a:ext cx="1209861" cy="29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Compare + scenario-test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102830" y="3058083"/>
            <a:ext cx="1209861" cy="489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Answer the $20,000 / six-month question with structured comparison and calculation.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102830" y="3769556"/>
            <a:ext cx="912109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Side-by-side cost drivers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102830" y="3935648"/>
            <a:ext cx="912109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Visible calculation inputs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519860" y="2483793"/>
            <a:ext cx="628314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· MEASURE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519860" y="2655243"/>
            <a:ext cx="1217005" cy="14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Verify + evaluate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519860" y="3058083"/>
            <a:ext cx="1217005" cy="489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Test citation coverage, missing information, conflicts, and unsupported claims.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519860" y="3769556"/>
            <a:ext cx="960199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Claim → evidence checks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519860" y="3935648"/>
            <a:ext cx="956993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Known-answer evaluation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85788" y="4337484"/>
            <a:ext cx="501740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Document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201769" y="4337484"/>
            <a:ext cx="109004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→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373219" y="4337484"/>
            <a:ext cx="407163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Retrieve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881485" y="4337484"/>
            <a:ext cx="109004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→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052935" y="4337484"/>
            <a:ext cx="45845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Calculate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618296" y="4337484"/>
            <a:ext cx="109004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→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789746" y="4337484"/>
            <a:ext cx="367088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Explain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253420" y="4337484"/>
            <a:ext cx="109004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→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424870" y="4337484"/>
            <a:ext cx="286938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Verify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279789" y="1221647"/>
            <a:ext cx="343558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Technical stack to finalize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279789" y="1650206"/>
            <a:ext cx="387927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Frontend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279789" y="1803797"/>
            <a:ext cx="134011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Upload, questions, comparison,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279789" y="1928813"/>
            <a:ext cx="351058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citations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069020" y="1650206"/>
            <a:ext cx="371897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Backend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069020" y="1803797"/>
            <a:ext cx="1375377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API orchestration and structured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069020" y="1928813"/>
            <a:ext cx="44082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responses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279789" y="2168128"/>
            <a:ext cx="940963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Document processing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279789" y="2321719"/>
            <a:ext cx="1461939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PDF parser / OCR / section-aware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279789" y="2446734"/>
            <a:ext cx="38151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chunking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069020" y="2168128"/>
            <a:ext cx="379912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Retrieval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069020" y="2321719"/>
            <a:ext cx="1240724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Embeddings + vector index +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069020" y="2446734"/>
            <a:ext cx="67005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keyword search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279789" y="2686050"/>
            <a:ext cx="437620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Reranking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279789" y="2839641"/>
            <a:ext cx="153728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Question/product/date-aware clause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279789" y="2964656"/>
            <a:ext cx="31258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ranking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069020" y="2686050"/>
            <a:ext cx="484107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Calculation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069020" y="2839641"/>
            <a:ext cx="1330492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Deterministic cost and scenario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7069020" y="2964656"/>
            <a:ext cx="28533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engine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279789" y="3203972"/>
            <a:ext cx="474489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Generation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279789" y="3357563"/>
            <a:ext cx="1275990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LLM explanation with citations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069020" y="3203972"/>
            <a:ext cx="490519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Verification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069020" y="3357563"/>
            <a:ext cx="1203856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Claim entailment + conflict +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7069020" y="3482578"/>
            <a:ext cx="7389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missing-info flags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279789" y="3786188"/>
            <a:ext cx="3435586" cy="561244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Future expansion:</a:t>
            </a: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after loans, we will extend the same evidence-first layer to insurance, mortgages, and other document-heavy products.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12821" y="928412"/>
            <a:ext cx="4553079" cy="3783973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0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53007" y="1219635"/>
            <a:ext cx="2971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STACK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446520"/>
            <a:ext cx="475488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65E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· Scalability</a:t>
            </a: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FEF2E49B-120D-7A2F-CE8D-D4792AA75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15" y="1450360"/>
            <a:ext cx="446288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React.js · Tailwind CSS · React Router · Axios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Node.js · Express.js · REST APIs · JWT · </a:t>
            </a:r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bcrypt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AI/RAG: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Python · </a:t>
            </a:r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· RAG · Agents · Custom Tools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LLM: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API · Llama-based LLM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Embeddings: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Hugging Face · all-MiniLM-L6-v2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Retrieval: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Vector Search · Reranking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Databases: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· Pinecone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Document Processing: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100" dirty="0" err="1">
                <a:latin typeface="Arial" panose="020B0604020202020204" pitchFamily="34" charset="0"/>
                <a:cs typeface="Arial" panose="020B0604020202020204" pitchFamily="34" charset="0"/>
              </a:rPr>
              <a:t>PyMuPDF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· Chunking · Metadata Extraction</a:t>
            </a:r>
          </a:p>
          <a:p>
            <a:b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100" b="1" dirty="0">
                <a:latin typeface="Arial" panose="020B0604020202020204" pitchFamily="34" charset="0"/>
                <a:cs typeface="Arial" panose="020B0604020202020204" pitchFamily="34" charset="0"/>
              </a:rPr>
              <a:t>Core AI Tools:</a:t>
            </a:r>
            <a:r>
              <a:rPr lang="en-IN" sz="1100" dirty="0">
                <a:latin typeface="Arial" panose="020B0604020202020204" pitchFamily="34" charset="0"/>
                <a:cs typeface="Arial" panose="020B0604020202020204" pitchFamily="34" charset="0"/>
              </a:rPr>
              <a:t> Financial Calculator · Comparison Engine · Evidence Verifier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3201" y="194966"/>
            <a:ext cx="8724052" cy="238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ARCHITECTURE: EVIDENCE-FIRST LOAN DECISION WORKFLOW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1" y="1588591"/>
            <a:ext cx="1810728" cy="145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84909" y="1588591"/>
            <a:ext cx="2057725" cy="145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49578" y="1588591"/>
            <a:ext cx="1728432" cy="145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479270" y="1588591"/>
            <a:ext cx="2057725" cy="1431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7005" y="442620"/>
            <a:ext cx="7751600" cy="45059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949072-1E2A-E4E8-B428-FD798A83C636}"/>
              </a:ext>
            </a:extLst>
          </p:cNvPr>
          <p:cNvSpPr txBox="1"/>
          <p:nvPr/>
        </p:nvSpPr>
        <p:spPr>
          <a:xfrm>
            <a:off x="84406" y="4779257"/>
            <a:ext cx="6999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Architecture diagram:</a:t>
            </a:r>
          </a:p>
          <a:p>
            <a:r>
              <a:rPr lang="en-US" sz="800" dirty="0"/>
              <a:t>https://drive.google.com/drive/folders/1JN6wZugSDvhiz22m5gX8ZQLGw6gmLWDg?usp=sharing</a:t>
            </a:r>
            <a:endParaRPr lang="en-IN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290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sz="2100" b="1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 IS A PRODUCT FEATURE, NOT A DISCLAIMER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14363" y="932650"/>
            <a:ext cx="443481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Every answer carries an evidence status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4363" y="1150534"/>
            <a:ext cx="4434818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interface separates what the document says from what the system infers or cannot verify.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8650" y="1939919"/>
            <a:ext cx="1115430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08618" y="1597019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396630" y="1939919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396630" y="1597019"/>
            <a:ext cx="826275" cy="260456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22905" y="1597019"/>
            <a:ext cx="826275" cy="3571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034893" y="1597019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222905" y="1939919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222905" y="1597019"/>
            <a:ext cx="826275" cy="260456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28650" y="2297106"/>
            <a:ext cx="1115430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208618" y="1954206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396630" y="2297106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396630" y="1954206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5034893" y="1954206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222905" y="2297106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222905" y="1954206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28650" y="2654294"/>
            <a:ext cx="1115430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28650" y="2311394"/>
            <a:ext cx="1115430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208618" y="2311394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3396630" y="2654294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3396630" y="2311394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5034893" y="2311394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222905" y="2654294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222905" y="2311394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628650" y="3011481"/>
            <a:ext cx="1115430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28650" y="2668581"/>
            <a:ext cx="1115430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4208618" y="2668581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3396630" y="3011481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3396630" y="2668581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5034893" y="2668581"/>
            <a:ext cx="14288" cy="3571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4222905" y="3011481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4222905" y="2668581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628650" y="3391440"/>
            <a:ext cx="1115430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4208618" y="3025769"/>
            <a:ext cx="14288" cy="36567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3396630" y="3377152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3396630" y="3025769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5034893" y="3025769"/>
            <a:ext cx="14288" cy="36567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4222905" y="3377152"/>
            <a:ext cx="826275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4222905" y="3025769"/>
            <a:ext cx="826275" cy="267894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614363" y="3477165"/>
            <a:ext cx="2420534" cy="89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7777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Evidence status is part of the answer format, not a post-hoc disclaimer.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5520668" y="775488"/>
            <a:ext cx="3480402" cy="340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fluent answer is not enough. The user must be able to inspect the claim.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5520668" y="1419765"/>
            <a:ext cx="348040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MISSING-INFORMATION EXAMPLE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5520668" y="1580499"/>
            <a:ext cx="1982915" cy="126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Question: Is the fee waived for students?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5520668" y="1786217"/>
            <a:ext cx="1009892" cy="169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specified.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5520668" y="2026202"/>
            <a:ext cx="2542363" cy="1119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supporting clause found. Verify the current official terms.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5520668" y="2491941"/>
            <a:ext cx="3480402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CONFLICT-DETECTION EXAMPLE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5520668" y="2652675"/>
            <a:ext cx="2184893" cy="126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2025 terms: fee = 3% · 2026 terms: fee = 1%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5520668" y="2858393"/>
            <a:ext cx="1292020" cy="1699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Conflict detected.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5520668" y="3098378"/>
            <a:ext cx="2616101" cy="1119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Show both clauses, their dates, and which document is latest.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5520668" y="3442674"/>
            <a:ext cx="3480402" cy="533608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 explains what the document says, what it means, what is unclear, and what to verify. It does not provide personalized financial advice.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632452-6E07-C59B-6700-34036F36A926}"/>
              </a:ext>
            </a:extLst>
          </p:cNvPr>
          <p:cNvSpPr txBox="1"/>
          <p:nvPr/>
        </p:nvSpPr>
        <p:spPr>
          <a:xfrm>
            <a:off x="515291" y="3628907"/>
            <a:ext cx="463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important answer has three parts:</a:t>
            </a:r>
          </a:p>
          <a:p>
            <a:pPr>
              <a:buNone/>
            </a:pPr>
            <a:r>
              <a:rPr lang="en-US" sz="9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 → EVIDENCE → STATUS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5980B2D6-FFCD-A7FC-B40A-38E10B0F2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658" y="696202"/>
            <a:ext cx="5030062" cy="40615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1357" y="139717"/>
            <a:ext cx="828675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1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KILLER EXAMPLE: WHICH LOAN IS ACTUALLY CHEAPER?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1357" y="457200"/>
            <a:ext cx="5446556" cy="257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higher APR can still be the lower-cost choice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28625" y="1091543"/>
            <a:ext cx="4725256" cy="39790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5788" y="1420155"/>
            <a:ext cx="4410931" cy="324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“I need a $20,000 loan and expect to repay it in six months. Which product is cheaper?”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85788" y="1936083"/>
            <a:ext cx="1411449" cy="237501"/>
          </a:xfrm>
          <a:prstGeom prst="rect">
            <a:avLst/>
          </a:prstGeom>
          <a:noFill/>
          <a:ln/>
        </p:spPr>
        <p:txBody>
          <a:bodyPr wrap="square" lIns="59563" tIns="68072" rIns="59563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Field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97236" y="1936083"/>
            <a:ext cx="519438" cy="237501"/>
          </a:xfrm>
          <a:prstGeom prst="rect">
            <a:avLst/>
          </a:prstGeom>
          <a:noFill/>
          <a:ln/>
        </p:spPr>
        <p:txBody>
          <a:bodyPr wrap="none" lIns="59563" tIns="68072" rIns="59563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 A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88177" y="1936083"/>
            <a:ext cx="519438" cy="237501"/>
          </a:xfrm>
          <a:prstGeom prst="rect">
            <a:avLst/>
          </a:prstGeom>
          <a:noFill/>
          <a:ln/>
        </p:spPr>
        <p:txBody>
          <a:bodyPr wrap="none" lIns="59563" tIns="68072" rIns="59563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 B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79119" y="1936083"/>
            <a:ext cx="375167" cy="237501"/>
          </a:xfrm>
          <a:prstGeom prst="rect">
            <a:avLst/>
          </a:prstGeom>
          <a:noFill/>
          <a:ln/>
        </p:spPr>
        <p:txBody>
          <a:bodyPr wrap="none" lIns="59563" tIns="68072" rIns="59563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Status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5788" y="2170919"/>
            <a:ext cx="1411449" cy="279564"/>
          </a:xfrm>
          <a:prstGeom prst="rect">
            <a:avLst/>
          </a:prstGeom>
          <a:noFill/>
          <a:ln/>
        </p:spPr>
        <p:txBody>
          <a:bodyPr wrap="squar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Headline APR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997236" y="2170919"/>
            <a:ext cx="375167" cy="279564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10.5%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188177" y="2170919"/>
            <a:ext cx="391197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11.2%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79119" y="2170919"/>
            <a:ext cx="365549" cy="264175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Explicit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5788" y="2438809"/>
            <a:ext cx="1411449" cy="279564"/>
          </a:xfrm>
          <a:prstGeom prst="rect">
            <a:avLst/>
          </a:prstGeom>
          <a:noFill/>
          <a:ln/>
        </p:spPr>
        <p:txBody>
          <a:bodyPr wrap="squar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Processing fee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997236" y="2438809"/>
            <a:ext cx="1136593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2% of approved amount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188177" y="2438809"/>
            <a:ext cx="920188" cy="279564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Fixed fee of €2,000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379119" y="2438809"/>
            <a:ext cx="365549" cy="264175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Explicit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85788" y="2703128"/>
            <a:ext cx="1411449" cy="279564"/>
          </a:xfrm>
          <a:prstGeom prst="rect">
            <a:avLst/>
          </a:prstGeom>
          <a:noFill/>
          <a:ln/>
        </p:spPr>
        <p:txBody>
          <a:bodyPr wrap="squar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Early repayment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997236" y="2703128"/>
            <a:ext cx="998735" cy="402674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Charge may apply</a:t>
            </a:r>
          </a:p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before stated period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188177" y="2703128"/>
            <a:ext cx="1205523" cy="279564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fee after stated period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79119" y="2703128"/>
            <a:ext cx="509820" cy="264175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Conditional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85788" y="3081747"/>
            <a:ext cx="1411449" cy="279564"/>
          </a:xfrm>
          <a:prstGeom prst="rect">
            <a:avLst/>
          </a:prstGeom>
          <a:noFill/>
          <a:ln/>
        </p:spPr>
        <p:txBody>
          <a:bodyPr wrap="squar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Late-payment charge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997236" y="3081747"/>
            <a:ext cx="1040413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Specified in Section 8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188177" y="3081747"/>
            <a:ext cx="860877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clearly stated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379119" y="3081747"/>
            <a:ext cx="327077" cy="264175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Mixed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85788" y="3346066"/>
            <a:ext cx="1411449" cy="279564"/>
          </a:xfrm>
          <a:prstGeom prst="rect">
            <a:avLst/>
          </a:prstGeom>
          <a:noFill/>
          <a:ln/>
        </p:spPr>
        <p:txBody>
          <a:bodyPr wrap="squar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Initial signal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997236" y="3346066"/>
            <a:ext cx="572336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 rate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188177" y="3346066"/>
            <a:ext cx="593176" cy="287258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Higher rate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379119" y="3346066"/>
            <a:ext cx="498598" cy="264175"/>
          </a:xfrm>
          <a:prstGeom prst="rect">
            <a:avLst/>
          </a:prstGeom>
          <a:noFill/>
          <a:ln/>
        </p:spPr>
        <p:txBody>
          <a:bodyPr wrap="none" lIns="59563" tIns="85090" rIns="5956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Incomplete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85788" y="3849700"/>
            <a:ext cx="35105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Principal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85788" y="3997933"/>
            <a:ext cx="280526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$20,000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476524" y="3849700"/>
            <a:ext cx="343043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Duration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476524" y="3997933"/>
            <a:ext cx="317395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 months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367260" y="3849700"/>
            <a:ext cx="299762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Interest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367260" y="3997933"/>
            <a:ext cx="288541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Retrieve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258052" y="3849700"/>
            <a:ext cx="190758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Fees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258052" y="3997933"/>
            <a:ext cx="288541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Retrieve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148789" y="3849700"/>
            <a:ext cx="365485" cy="100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Penalties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148789" y="3997933"/>
            <a:ext cx="455253" cy="923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Scenario-test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85788" y="4187242"/>
            <a:ext cx="4410931" cy="9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final answer should expose the inputs and calculation path; it should not let the LLM invent a total.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439631" y="1105830"/>
            <a:ext cx="3275744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01 · RETRIEVE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439631" y="1252277"/>
            <a:ext cx="32757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Find the cost drivers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439631" y="1448730"/>
            <a:ext cx="327574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Retrieve APR, duration, processing fee, early-repayment fee, late fee, and any reductions from the source clauses.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439631" y="1945221"/>
            <a:ext cx="3275744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02 · CALCULATE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439631" y="2091668"/>
            <a:ext cx="32757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Compute outside the LLM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439631" y="2302408"/>
            <a:ext cx="3275744" cy="20903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Total cost = </a:t>
            </a:r>
            <a:r>
              <a:rPr lang="en-US" sz="8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principal + interest + fees + penalties − reductions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439631" y="2695315"/>
            <a:ext cx="3275744" cy="24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calculation engine uses structured inputs and the borrower’s six-month scenario.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439631" y="3172495"/>
            <a:ext cx="3275744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03 · EXPLAIN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439631" y="3318942"/>
            <a:ext cx="32757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Return a qualified conclusion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439631" y="3515395"/>
            <a:ext cx="327574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“Product B may have lower total cost under this repayment scenario.” Show the exact evidence behind the claim.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439631" y="4011885"/>
            <a:ext cx="3275744" cy="10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04 · FLAG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439631" y="4158332"/>
            <a:ext cx="32757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 silent guessing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5439631" y="4354785"/>
            <a:ext cx="1064394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“Not specified.”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5439631" y="4586232"/>
            <a:ext cx="3275744" cy="240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If a fee waiver or condition is absent, identify the gap and tell the user what to verify.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60100D-4865-80DC-41DB-33965BD4BAE8}"/>
              </a:ext>
            </a:extLst>
          </p:cNvPr>
          <p:cNvSpPr txBox="1"/>
          <p:nvPr/>
        </p:nvSpPr>
        <p:spPr>
          <a:xfrm>
            <a:off x="306706" y="662232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scenario-based comparison reveals what the headline rate hides.</a:t>
            </a:r>
            <a:endParaRPr lang="en-IN" sz="7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12D0370-8B60-9140-EF7A-4757BE51075D}"/>
              </a:ext>
            </a:extLst>
          </p:cNvPr>
          <p:cNvCxnSpPr>
            <a:cxnSpLocks/>
          </p:cNvCxnSpPr>
          <p:nvPr/>
        </p:nvCxnSpPr>
        <p:spPr>
          <a:xfrm>
            <a:off x="1691640" y="1938747"/>
            <a:ext cx="0" cy="1671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5D98CF4-3D07-9B7A-246A-D6E750C4859E}"/>
              </a:ext>
            </a:extLst>
          </p:cNvPr>
          <p:cNvCxnSpPr>
            <a:cxnSpLocks/>
          </p:cNvCxnSpPr>
          <p:nvPr/>
        </p:nvCxnSpPr>
        <p:spPr>
          <a:xfrm>
            <a:off x="3131820" y="1938747"/>
            <a:ext cx="0" cy="1671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B677CD5-9DD1-4219-2E9E-ED6D9DDD06EE}"/>
              </a:ext>
            </a:extLst>
          </p:cNvPr>
          <p:cNvCxnSpPr>
            <a:cxnSpLocks/>
          </p:cNvCxnSpPr>
          <p:nvPr/>
        </p:nvCxnSpPr>
        <p:spPr>
          <a:xfrm>
            <a:off x="4379119" y="1938747"/>
            <a:ext cx="0" cy="1671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7149CCC-270C-78E5-2AA7-0EBBEEFA0FD6}"/>
              </a:ext>
            </a:extLst>
          </p:cNvPr>
          <p:cNvCxnSpPr>
            <a:cxnSpLocks/>
          </p:cNvCxnSpPr>
          <p:nvPr/>
        </p:nvCxnSpPr>
        <p:spPr>
          <a:xfrm>
            <a:off x="585788" y="1938747"/>
            <a:ext cx="0" cy="1671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87A862C-F95D-8B5E-2F77-4AD2AA7F6CCE}"/>
              </a:ext>
            </a:extLst>
          </p:cNvPr>
          <p:cNvCxnSpPr>
            <a:cxnSpLocks/>
          </p:cNvCxnSpPr>
          <p:nvPr/>
        </p:nvCxnSpPr>
        <p:spPr>
          <a:xfrm>
            <a:off x="5153881" y="1945221"/>
            <a:ext cx="0" cy="16716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E9ECFD6-235D-5BE3-674A-A9ED8CF55E0E}"/>
              </a:ext>
            </a:extLst>
          </p:cNvPr>
          <p:cNvCxnSpPr>
            <a:cxnSpLocks/>
          </p:cNvCxnSpPr>
          <p:nvPr/>
        </p:nvCxnSpPr>
        <p:spPr>
          <a:xfrm flipH="1">
            <a:off x="585788" y="1945221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8BCBFE3-FEF1-FE4A-1651-796C45D31441}"/>
              </a:ext>
            </a:extLst>
          </p:cNvPr>
          <p:cNvCxnSpPr>
            <a:cxnSpLocks/>
          </p:cNvCxnSpPr>
          <p:nvPr/>
        </p:nvCxnSpPr>
        <p:spPr>
          <a:xfrm flipH="1">
            <a:off x="585788" y="3612506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35AF7B-16D9-2591-4D25-E2DE82161D1B}"/>
              </a:ext>
            </a:extLst>
          </p:cNvPr>
          <p:cNvCxnSpPr>
            <a:cxnSpLocks/>
          </p:cNvCxnSpPr>
          <p:nvPr/>
        </p:nvCxnSpPr>
        <p:spPr>
          <a:xfrm flipH="1">
            <a:off x="585788" y="2188280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3C934AD-C080-4630-AF00-F2F1EF375E8B}"/>
              </a:ext>
            </a:extLst>
          </p:cNvPr>
          <p:cNvCxnSpPr>
            <a:cxnSpLocks/>
          </p:cNvCxnSpPr>
          <p:nvPr/>
        </p:nvCxnSpPr>
        <p:spPr>
          <a:xfrm flipH="1">
            <a:off x="585788" y="3343923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81E2BAC-86C6-CBA9-F51F-B8A964183BE0}"/>
              </a:ext>
            </a:extLst>
          </p:cNvPr>
          <p:cNvCxnSpPr>
            <a:cxnSpLocks/>
          </p:cNvCxnSpPr>
          <p:nvPr/>
        </p:nvCxnSpPr>
        <p:spPr>
          <a:xfrm flipH="1">
            <a:off x="585788" y="3081747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51BC05F-98A5-ADB2-C106-8ABCCB302903}"/>
              </a:ext>
            </a:extLst>
          </p:cNvPr>
          <p:cNvCxnSpPr>
            <a:cxnSpLocks/>
          </p:cNvCxnSpPr>
          <p:nvPr/>
        </p:nvCxnSpPr>
        <p:spPr>
          <a:xfrm flipH="1">
            <a:off x="585788" y="2703128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49992C-1A88-B3AC-8693-422893BA8F4A}"/>
              </a:ext>
            </a:extLst>
          </p:cNvPr>
          <p:cNvCxnSpPr>
            <a:cxnSpLocks/>
          </p:cNvCxnSpPr>
          <p:nvPr/>
        </p:nvCxnSpPr>
        <p:spPr>
          <a:xfrm flipH="1">
            <a:off x="585788" y="2438810"/>
            <a:ext cx="45680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28625" y="4357116"/>
            <a:ext cx="4800600" cy="658368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57225" y="4521708"/>
            <a:ext cx="10515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OUTPUT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00224" y="443026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Qualified conclusion + calculation inputs + exact evidence + any missing information</a:t>
            </a:r>
          </a:p>
        </p:txBody>
      </p:sp>
      <p:sp>
        <p:nvSpPr>
          <p:cNvPr id="5" name="Text 2"/>
          <p:cNvSpPr/>
          <p:nvPr/>
        </p:nvSpPr>
        <p:spPr>
          <a:xfrm>
            <a:off x="585788" y="1145373"/>
            <a:ext cx="414337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 makes the decision traceable for a borrower not just fluent.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75022"/>
            <a:ext cx="8286750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10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UNIQUENESS + COMPETITIVE ADVANTAGE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464344"/>
            <a:ext cx="5937523" cy="238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864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FinExplain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more than a financial document chatbot</a:t>
            </a:r>
          </a:p>
        </p:txBody>
      </p:sp>
      <p:sp>
        <p:nvSpPr>
          <p:cNvPr id="5" name="Text 2"/>
          <p:cNvSpPr/>
          <p:nvPr/>
        </p:nvSpPr>
        <p:spPr>
          <a:xfrm>
            <a:off x="428625" y="814667"/>
            <a:ext cx="4026743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 is a financial decision layer, not simply a document summarizer.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28625" y="1131112"/>
            <a:ext cx="4725256" cy="390807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5788" y="1273987"/>
            <a:ext cx="4410931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Capability comparison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0075" y="1574025"/>
            <a:ext cx="1884276" cy="250031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470063" y="1574025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0075" y="1809769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0075" y="1574025"/>
            <a:ext cx="1884276" cy="233525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Capability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84351" y="1574025"/>
            <a:ext cx="1256184" cy="250031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726247" y="1574025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84351" y="1809769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84351" y="1574025"/>
            <a:ext cx="1256184" cy="233525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Generic AI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740534" y="1574025"/>
            <a:ext cx="1256184" cy="250031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982431" y="1574025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740534" y="1809769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740534" y="1574025"/>
            <a:ext cx="1256184" cy="233525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FinExplain</a:t>
            </a:r>
            <a:endParaRPr lang="en-US" sz="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00075" y="1824056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470063" y="1824056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0075" y="2059800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0075" y="1824056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PDF Q&amp;A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484351" y="1824056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726247" y="1824056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484351" y="2059800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484351" y="1824056"/>
            <a:ext cx="1256184" cy="255647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lang="en-IN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endParaRPr lang="en-US" sz="75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740534" y="1824056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982431" y="1824056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740534" y="2059800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740534" y="1824056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Yes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00075" y="2074087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470063" y="2074087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00075" y="2309831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00075" y="2074087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Summarization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484351" y="2074087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726247" y="2074087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484351" y="2309831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484351" y="2074087"/>
            <a:ext cx="1256184" cy="240900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lang="en-IN" sz="7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</a:t>
            </a:r>
            <a:endParaRPr lang="en-US" sz="7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740534" y="2074087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982431" y="2074087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740534" y="2309831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740534" y="2074087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Yes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00075" y="2324119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2470063" y="2324119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00075" y="2559862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00075" y="2324119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cost comparison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2484351" y="2324119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3726247" y="2324119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2484351" y="2559862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2484351" y="2324119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Purpose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740534" y="2324119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982431" y="2324119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3740534" y="2559862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740534" y="2324119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Core flow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00075" y="2574150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2470063" y="2574150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00075" y="2809894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00075" y="2574150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Scenario testing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2484351" y="2574150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3726247" y="2574150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2484351" y="2809894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2484351" y="2574150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Purpose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3740534" y="2574150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982431" y="2574150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3740534" y="2809894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3740534" y="2574150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Core flow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600075" y="2824181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2470063" y="2824181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600075" y="3059925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00075" y="2824181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Evidence status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2484351" y="2824181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3726247" y="2824181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2484351" y="3059925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2484351" y="2824181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May vary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3740534" y="2824181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4982431" y="2824181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3740534" y="3059925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3740534" y="2824181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Explicit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600075" y="3074212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2470063" y="3074212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600075" y="3309956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600075" y="3074212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Missing information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2484351" y="3074212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3726247" y="3074212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2484351" y="3309956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2484351" y="3074212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May guess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85"/>
          <p:cNvSpPr/>
          <p:nvPr/>
        </p:nvSpPr>
        <p:spPr>
          <a:xfrm>
            <a:off x="3740534" y="3074212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4982431" y="3074212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3740534" y="3309956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3740534" y="3074212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Flagged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Shape 89"/>
          <p:cNvSpPr/>
          <p:nvPr/>
        </p:nvSpPr>
        <p:spPr>
          <a:xfrm>
            <a:off x="600075" y="3324244"/>
            <a:ext cx="1884276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90"/>
          <p:cNvSpPr/>
          <p:nvPr/>
        </p:nvSpPr>
        <p:spPr>
          <a:xfrm>
            <a:off x="2470063" y="3324244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600075" y="3559987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600075" y="3324244"/>
            <a:ext cx="1884276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Conflict detection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93"/>
          <p:cNvSpPr/>
          <p:nvPr/>
        </p:nvSpPr>
        <p:spPr>
          <a:xfrm>
            <a:off x="2484351" y="3324244"/>
            <a:ext cx="1256184" cy="2500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3726247" y="3324244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2484351" y="3559987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2484351" y="3324244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Not default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7"/>
          <p:cNvSpPr/>
          <p:nvPr/>
        </p:nvSpPr>
        <p:spPr>
          <a:xfrm>
            <a:off x="3740534" y="3324244"/>
            <a:ext cx="1256184" cy="250031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4982431" y="3324244"/>
            <a:ext cx="14288" cy="250031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3740534" y="3559987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3740534" y="3324244"/>
            <a:ext cx="1256184" cy="250031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Surfaced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101"/>
          <p:cNvSpPr/>
          <p:nvPr/>
        </p:nvSpPr>
        <p:spPr>
          <a:xfrm>
            <a:off x="600075" y="3574275"/>
            <a:ext cx="1884276" cy="3685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2470063" y="3574275"/>
            <a:ext cx="14288" cy="368573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Shape 103"/>
          <p:cNvSpPr/>
          <p:nvPr/>
        </p:nvSpPr>
        <p:spPr>
          <a:xfrm>
            <a:off x="600075" y="3928560"/>
            <a:ext cx="1884276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600075" y="3574275"/>
            <a:ext cx="1884276" cy="240900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Source traceability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105"/>
          <p:cNvSpPr/>
          <p:nvPr/>
        </p:nvSpPr>
        <p:spPr>
          <a:xfrm>
            <a:off x="2484351" y="3574275"/>
            <a:ext cx="1256184" cy="36857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6"/>
          <p:cNvSpPr/>
          <p:nvPr/>
        </p:nvSpPr>
        <p:spPr>
          <a:xfrm>
            <a:off x="3726247" y="3574275"/>
            <a:ext cx="14288" cy="368573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Shape 107"/>
          <p:cNvSpPr/>
          <p:nvPr/>
        </p:nvSpPr>
        <p:spPr>
          <a:xfrm>
            <a:off x="2484351" y="3928560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2484351" y="3574275"/>
            <a:ext cx="1256184" cy="226088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varies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09"/>
          <p:cNvSpPr/>
          <p:nvPr/>
        </p:nvSpPr>
        <p:spPr>
          <a:xfrm>
            <a:off x="3740534" y="3574275"/>
            <a:ext cx="1256184" cy="368573"/>
          </a:xfrm>
          <a:prstGeom prst="rect">
            <a:avLst/>
          </a:prstGeom>
          <a:solidFill>
            <a:srgbClr val="FF8A65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110"/>
          <p:cNvSpPr/>
          <p:nvPr/>
        </p:nvSpPr>
        <p:spPr>
          <a:xfrm>
            <a:off x="4982431" y="3574275"/>
            <a:ext cx="14288" cy="368573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111"/>
          <p:cNvSpPr/>
          <p:nvPr/>
        </p:nvSpPr>
        <p:spPr>
          <a:xfrm>
            <a:off x="3740534" y="3928560"/>
            <a:ext cx="1256184" cy="14288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3740534" y="3574275"/>
            <a:ext cx="1256184" cy="344325"/>
          </a:xfrm>
          <a:prstGeom prst="rect">
            <a:avLst/>
          </a:prstGeom>
          <a:noFill/>
          <a:ln/>
        </p:spPr>
        <p:txBody>
          <a:bodyPr wrap="square" lIns="76581" tIns="68072" rIns="76581" bIns="68072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Document / page / passage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5439631" y="1159687"/>
            <a:ext cx="3275744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RAG enables the system. </a:t>
            </a:r>
            <a:r>
              <a:rPr lang="en-US" sz="1250" b="1" dirty="0">
                <a:solidFill>
                  <a:srgbClr val="FF8A6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evidence-first workflow is the product.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5439631" y="1849059"/>
            <a:ext cx="327574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 · Compare, don’t just summarize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5439631" y="2034797"/>
            <a:ext cx="3275744" cy="27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Normalize rates, fees, repayment rules, exclusions, and eligibility into a decision-ready view.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5439631" y="2536199"/>
            <a:ext cx="327574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 · Calculate, don’t improvise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5439631" y="2721936"/>
            <a:ext cx="3275744" cy="27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Use structured inputs and a deterministic cost engine before asking the LLM to explain.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5439631" y="3223338"/>
            <a:ext cx="327574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2D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 · Know when not to answer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5439631" y="3409076"/>
            <a:ext cx="3275744" cy="272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Return “Not specified” or “Conflict detected” when the evidence does not support a safe conclusion.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5439631" y="4810590"/>
            <a:ext cx="3275744" cy="92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9113409-2EF3-3415-3A92-D2101055F49B}"/>
              </a:ext>
            </a:extLst>
          </p:cNvPr>
          <p:cNvSpPr txBox="1"/>
          <p:nvPr/>
        </p:nvSpPr>
        <p:spPr>
          <a:xfrm>
            <a:off x="505253" y="432883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Federal Reserve,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SHED 2025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May 2026.</a:t>
            </a:r>
          </a:p>
          <a:p>
            <a:pPr>
              <a:buNone/>
            </a:pP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FINRA Foundation,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NFCS 2024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April 2025.</a:t>
            </a:r>
          </a:p>
          <a:p>
            <a:pPr>
              <a:buNone/>
            </a:pP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CFPB, </a:t>
            </a:r>
            <a:r>
              <a:rPr lang="en-US" sz="8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Consumer Credit Card Market Report 2025</a:t>
            </a: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December 2025.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267449" y="3950114"/>
            <a:ext cx="3762982" cy="952809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F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267449" y="4191072"/>
            <a:ext cx="86269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F47B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UNIQUE?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992503" y="4042421"/>
            <a:ext cx="315149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just RAG or PDF Q&amp;A: </a:t>
            </a:r>
            <a:r>
              <a:rPr sz="1050" b="1" dirty="0" err="1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FinExplain</a:t>
            </a:r>
            <a:r>
              <a:rPr sz="1050" b="1" dirty="0">
                <a:solidFill>
                  <a:srgbClr val="1B20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combines evidence retrieval, deterministic loan-cost calculation, explicit uncertainty and claim-level verification into one decision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69" y="300038"/>
            <a:ext cx="85010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 · WHAT THE SYSTEM CAN PROVE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21469" y="464344"/>
            <a:ext cx="85010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5333"/>
              </a:lnSpc>
              <a:buNone/>
            </a:pPr>
            <a:r>
              <a:rPr lang="en-US" sz="15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EVIDENCE QUALITY IS PRODUCTION-READY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21469" y="850106"/>
            <a:ext cx="85010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FinExplain answers are grounded, mathematically consistent, and auditable across five operative credit agreements.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21469" y="1078706"/>
            <a:ext cx="537210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EVIDENCE QUALITY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321469" y="1221581"/>
            <a:ext cx="53721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21469" y="1221581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6"/>
          <p:cNvSpPr/>
          <p:nvPr/>
        </p:nvSpPr>
        <p:spPr>
          <a:xfrm>
            <a:off x="407194" y="1293019"/>
            <a:ext cx="7572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2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4431" y="1293019"/>
            <a:ext cx="1314450" cy="11430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2478881" y="1293019"/>
            <a:ext cx="3000375" cy="1071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25/25 verified answers; no unsupported dollar amounts, dates, or rates.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321469" y="1657350"/>
            <a:ext cx="53721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21469" y="1657350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Text 11"/>
          <p:cNvSpPr/>
          <p:nvPr/>
        </p:nvSpPr>
        <p:spPr>
          <a:xfrm>
            <a:off x="407194" y="1728788"/>
            <a:ext cx="7572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2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64431" y="1728788"/>
            <a:ext cx="1314450" cy="11430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consistency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478881" y="1728788"/>
            <a:ext cx="3000375" cy="1071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calculation engine matched the source tables.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321469" y="2093119"/>
            <a:ext cx="53721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21469" y="2093119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6"/>
          <p:cNvSpPr/>
          <p:nvPr/>
        </p:nvSpPr>
        <p:spPr>
          <a:xfrm>
            <a:off x="407194" y="2164556"/>
            <a:ext cx="7572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2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90.7%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64431" y="2164556"/>
            <a:ext cx="1314450" cy="11430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accuracy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478881" y="2164556"/>
            <a:ext cx="3000375" cy="1071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Document, page, and section references mapped to verified chunks.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321469" y="2528888"/>
            <a:ext cx="53721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21469" y="2528888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407194" y="2600325"/>
            <a:ext cx="7572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2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64431" y="2600325"/>
            <a:ext cx="1314450" cy="11430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citation coverage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2478881" y="2600325"/>
            <a:ext cx="3000375" cy="1071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factual claims; up from 53.2% in the benchmark.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321469" y="2964656"/>
            <a:ext cx="5372100" cy="4357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21469" y="2964656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6"/>
          <p:cNvSpPr/>
          <p:nvPr/>
        </p:nvSpPr>
        <p:spPr>
          <a:xfrm>
            <a:off x="321469" y="3393281"/>
            <a:ext cx="537210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7"/>
          <p:cNvSpPr/>
          <p:nvPr/>
        </p:nvSpPr>
        <p:spPr>
          <a:xfrm>
            <a:off x="407194" y="3036094"/>
            <a:ext cx="7572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2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88.5%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64431" y="3036094"/>
            <a:ext cx="1314450" cy="114300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recall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478881" y="3036094"/>
            <a:ext cx="3000375" cy="10715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Multi-part questions and contractual qualifiers preserved.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5822156" y="1078706"/>
            <a:ext cx="300037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BENCHMARK STATUS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5822156" y="1221581"/>
            <a:ext cx="3000375" cy="1750219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5" name="Text 32"/>
          <p:cNvSpPr/>
          <p:nvPr/>
        </p:nvSpPr>
        <p:spPr>
          <a:xfrm>
            <a:off x="5965031" y="1350169"/>
            <a:ext cx="271462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PERFORMANCE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5965031" y="1507331"/>
            <a:ext cx="271462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7778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750" dirty="0"/>
          </a:p>
        </p:txBody>
      </p:sp>
      <p:sp>
        <p:nvSpPr>
          <p:cNvPr id="37" name="Text 34"/>
          <p:cNvSpPr/>
          <p:nvPr/>
        </p:nvSpPr>
        <p:spPr>
          <a:xfrm>
            <a:off x="5965031" y="2007394"/>
            <a:ext cx="2714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0909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21 metrics met or exceeded target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65031" y="2450306"/>
            <a:ext cx="2714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critical blockers</a:t>
            </a: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recorded. The result is not merely fluent Q&amp;A: the system separates answer, evidence, and status.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5822156" y="3071813"/>
            <a:ext cx="3000375" cy="97155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29313" y="3164681"/>
            <a:ext cx="27860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65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5929313" y="3328988"/>
            <a:ext cx="2786063" cy="275525"/>
          </a:xfrm>
          <a:prstGeom prst="rect">
            <a:avLst/>
          </a:prstGeom>
          <a:noFill/>
          <a:ln/>
        </p:spPr>
        <p:txBody>
          <a:bodyPr wrap="square" lIns="0" tIns="59563" rIns="0" bIns="0" rtlCol="0" anchor="t">
            <a:spAutoFit/>
          </a:bodyPr>
          <a:lstStyle/>
          <a:p>
            <a:pPr marL="0" indent="0" algn="l">
              <a:lnSpc>
                <a:spcPct val="101818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decision path</a:t>
            </a: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inspect the clause and calculation behind a number.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5929313" y="3629025"/>
            <a:ext cx="2786063" cy="275525"/>
          </a:xfrm>
          <a:prstGeom prst="rect">
            <a:avLst/>
          </a:prstGeom>
          <a:noFill/>
          <a:ln/>
        </p:spPr>
        <p:txBody>
          <a:bodyPr wrap="square" lIns="0" tIns="59563" rIns="0" bIns="0" rtlCol="0" anchor="t">
            <a:spAutoFit/>
          </a:bodyPr>
          <a:lstStyle/>
          <a:p>
            <a:pPr marL="0" indent="0" algn="l">
              <a:lnSpc>
                <a:spcPct val="101818"/>
              </a:lnSpc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answer format</a:t>
            </a: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evidence status is visible instead of implied.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287479" y="4421981"/>
            <a:ext cx="8501063" cy="450056"/>
          </a:xfrm>
          <a:prstGeom prst="rect">
            <a:avLst/>
          </a:prstGeom>
          <a:solidFill>
            <a:srgbClr val="FFF3E8"/>
          </a:solidFill>
          <a:ln w="9144">
            <a:solidFill>
              <a:srgbClr val="F47B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1"/>
          <p:cNvSpPr/>
          <p:nvPr/>
        </p:nvSpPr>
        <p:spPr>
          <a:xfrm>
            <a:off x="355458" y="4487454"/>
            <a:ext cx="8501063" cy="34054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ct val="97143"/>
              </a:lnSpc>
              <a:buNone/>
            </a:pPr>
            <a:r>
              <a:rPr lang="en-US" sz="9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generation paired with deterministic arithmetic: the LLM explains a verified result instead of inventing one.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8754554" y="4514850"/>
            <a:ext cx="67977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778"/>
              </a:lnSpc>
              <a:buNone/>
            </a:pPr>
            <a:r>
              <a:rPr lang="en-US" sz="45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1469" y="300038"/>
            <a:ext cx="85010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60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PROFILE · PERFORMANCE WITH GUARDRAILS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21469" y="464344"/>
            <a:ext cx="85010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5333"/>
              </a:lnSpc>
              <a:buNone/>
            </a:pPr>
            <a:r>
              <a:rPr lang="en-US" sz="15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FAST, LOW-COST, AND SAFE TO OPERATE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21469" y="850106"/>
            <a:ext cx="85010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keeps the expensive step—the explanation—bounded, while deterministic checks make the result auditable.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21469" y="1078706"/>
            <a:ext cx="3393281" cy="1643063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4"/>
          <p:cNvSpPr/>
          <p:nvPr/>
        </p:nvSpPr>
        <p:spPr>
          <a:xfrm>
            <a:off x="478631" y="1207294"/>
            <a:ext cx="30789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VERIFICATION PIPELINE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78631" y="1371600"/>
            <a:ext cx="307895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957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performance
in one view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8631" y="1850231"/>
            <a:ext cx="140731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829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4.95s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78631" y="2178844"/>
            <a:ext cx="140731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MEDIAN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78631" y="2321719"/>
            <a:ext cx="140731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25 complex test queries.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2021681" y="1850231"/>
            <a:ext cx="141446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829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10.53s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021681" y="2178844"/>
            <a:ext cx="14144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TAIL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021681" y="2321719"/>
            <a:ext cx="141446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queries with completeness retry.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3714750" y="1078706"/>
            <a:ext cx="5107781" cy="164306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57625" y="1200150"/>
            <a:ext cx="482203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THE RESULT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857625" y="1414463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retrieval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143500" y="1414463"/>
            <a:ext cx="33218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and BM25 execute concurrently, keeping retrieval under 25ms.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857625" y="1800225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context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143500" y="1800225"/>
            <a:ext cx="33218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Clause-level context is capped at ≤ 2,000 tokens before generation.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857625" y="2185988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verification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143500" y="2185988"/>
            <a:ext cx="33218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checks, evidence scoring, citation mapping, and arithmetic sit outside the LLM.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857625" y="2571750"/>
            <a:ext cx="12858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escalation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2571750"/>
            <a:ext cx="33218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score below 70% routes the response to compliance review.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321469" y="2850356"/>
            <a:ext cx="580072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PROCESSING PROFILE · MEASURED P50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392906" y="3061097"/>
            <a:ext cx="468418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TIER</a:t>
            </a:r>
            <a:endParaRPr lang="en-US" sz="500" dirty="0"/>
          </a:p>
        </p:txBody>
      </p:sp>
      <p:sp>
        <p:nvSpPr>
          <p:cNvPr id="29" name="Text 26"/>
          <p:cNvSpPr/>
          <p:nvPr/>
        </p:nvSpPr>
        <p:spPr>
          <a:xfrm>
            <a:off x="5022782" y="3057525"/>
            <a:ext cx="102797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· UNIT LLM COST</a:t>
            </a:r>
            <a:endParaRPr lang="en-US" sz="500" dirty="0"/>
          </a:p>
        </p:txBody>
      </p:sp>
      <p:sp>
        <p:nvSpPr>
          <p:cNvPr id="46" name="Text 43"/>
          <p:cNvSpPr/>
          <p:nvPr/>
        </p:nvSpPr>
        <p:spPr>
          <a:xfrm>
            <a:off x="321469" y="4550569"/>
            <a:ext cx="580072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LLM cost is approximately $0.000085 per full-credit query; repeated questions can use the &lt;15ms cache-hit path.</a:t>
            </a:r>
            <a:endParaRPr lang="en-US" sz="500" dirty="0"/>
          </a:p>
        </p:txBody>
      </p:sp>
      <p:sp>
        <p:nvSpPr>
          <p:cNvPr id="47" name="Text 44"/>
          <p:cNvSpPr/>
          <p:nvPr/>
        </p:nvSpPr>
        <p:spPr>
          <a:xfrm>
            <a:off x="6250781" y="2850356"/>
            <a:ext cx="257175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4545"/>
              </a:lnSpc>
              <a:buNone/>
            </a:pPr>
            <a:r>
              <a:rPr lang="en-US" sz="550" b="1" kern="0" spc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SIGNALS</a:t>
            </a:r>
            <a:endParaRPr lang="en-US" sz="550" dirty="0"/>
          </a:p>
        </p:txBody>
      </p:sp>
      <p:sp>
        <p:nvSpPr>
          <p:cNvPr id="48" name="Shape 45"/>
          <p:cNvSpPr/>
          <p:nvPr/>
        </p:nvSpPr>
        <p:spPr>
          <a:xfrm>
            <a:off x="6250781" y="2993230"/>
            <a:ext cx="2571750" cy="13430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57938" y="3093244"/>
            <a:ext cx="235743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308"/>
              </a:lnSpc>
              <a:buNone/>
            </a:pPr>
            <a:r>
              <a:rPr lang="en-US" sz="65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use.
Guarded enough to trust.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6357938" y="3371850"/>
            <a:ext cx="2357438" cy="335756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ct val="65882"/>
              </a:lnSpc>
              <a:buNone/>
            </a:pPr>
            <a:r>
              <a:rPr lang="en-US" sz="85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~$0.000085</a:t>
            </a: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Operational cost per full-credit query.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6357938" y="3707606"/>
            <a:ext cx="2357438" cy="335756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ct val="65882"/>
              </a:lnSpc>
              <a:buNone/>
            </a:pPr>
            <a:r>
              <a:rPr lang="en-US" sz="85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&lt;15ms</a:t>
            </a: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Repeated-query cache-hit path.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357938" y="4043363"/>
            <a:ext cx="2357438" cy="335756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marL="0" indent="0" algn="l">
              <a:lnSpc>
                <a:spcPct val="65882"/>
              </a:lnSpc>
              <a:buNone/>
            </a:pPr>
            <a:r>
              <a:rPr lang="en-US" sz="85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metrics</a:t>
            </a:r>
            <a:r>
              <a:rPr lang="en-US" sz="5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Remain under operational monitoring.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1469" y="4536281"/>
            <a:ext cx="8501063" cy="414338"/>
          </a:xfrm>
          <a:prstGeom prst="rect">
            <a:avLst/>
          </a:prstGeom>
          <a:solidFill>
            <a:srgbClr val="FFF3E8"/>
          </a:solidFill>
          <a:ln w="9144">
            <a:solidFill>
              <a:srgbClr val="F47B2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1469" y="4536281"/>
            <a:ext cx="8501063" cy="414338"/>
          </a:xfrm>
          <a:prstGeom prst="rect">
            <a:avLst/>
          </a:prstGeom>
          <a:noFill/>
          <a:ln/>
        </p:spPr>
        <p:txBody>
          <a:bodyPr wrap="square" lIns="119126" tIns="93599" rIns="119126" bIns="93599" rtlCol="0" anchor="t">
            <a:spAutoFit/>
          </a:bodyPr>
          <a:lstStyle/>
          <a:p>
            <a:pPr marL="0" indent="0" algn="l">
              <a:lnSpc>
                <a:spcPct val="98462"/>
              </a:lnSpc>
              <a:buNone/>
            </a:pPr>
            <a:r>
              <a:rPr lang="en-US" sz="650" b="1" dirty="0">
                <a:solidFill>
                  <a:srgbClr val="1B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PRODUCTION CAVEAT · Tail latency, cross-reference mapping, and table alignment remain under monitoring. The claim is measurably production-ready—not finished by assertion.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8750982" y="5022056"/>
            <a:ext cx="71549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7778"/>
              </a:lnSpc>
              <a:buNone/>
            </a:pPr>
            <a:r>
              <a:rPr lang="en-US" sz="45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50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DA0D940-6A33-AB0C-F29F-E785B0E7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3" y="2986197"/>
            <a:ext cx="5744363" cy="14895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2255</Words>
  <Application>Microsoft Office PowerPoint</Application>
  <PresentationFormat>On-screen Show (16:9)</PresentationFormat>
  <Paragraphs>377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sakshinbhingarkar2005@gmail.com</cp:lastModifiedBy>
  <cp:revision>6</cp:revision>
  <dcterms:created xsi:type="dcterms:W3CDTF">2026-08-13T15:52:54Z</dcterms:created>
  <dcterms:modified xsi:type="dcterms:W3CDTF">2026-08-23T15:26:58Z</dcterms:modified>
</cp:coreProperties>
</file>