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3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6477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1871272"/>
            <a:ext cx="1845057" cy="3727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4800"/>
              </a:lnSpc>
              <a:buNone/>
            </a:pPr>
            <a:r>
              <a:rPr lang="en-US" sz="28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FinExplain</a:t>
            </a:r>
            <a:endParaRPr lang="en-US" sz="2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428625" y="2438195"/>
            <a:ext cx="3173433" cy="7078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sz="2300" b="1" dirty="0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Evidence-first AI for loan decisions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280641" y="3174486"/>
            <a:ext cx="5177768" cy="146194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Understand the fine print before it costs you.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035018" y="0"/>
            <a:ext cx="3108927" cy="51435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4283" y="-10894"/>
            <a:ext cx="3428944" cy="51434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035018" y="4304109"/>
            <a:ext cx="3108927" cy="839391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755" y="4479131"/>
            <a:ext cx="71438" cy="7143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363630" y="4432697"/>
            <a:ext cx="1864909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Built for inspectable decisions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6"/>
          <p:cNvSpPr/>
          <p:nvPr/>
        </p:nvSpPr>
        <p:spPr>
          <a:xfrm>
            <a:off x="6220755" y="4668441"/>
            <a:ext cx="2737452" cy="384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sz="1200" b="0">
                <a:solidFill>
                  <a:srgbClr val="565E6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Official loan documents · Plain-language explanations · Evidence-linked answers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739B6B-29D3-30AA-B244-6E8765D3F572}"/>
              </a:ext>
            </a:extLst>
          </p:cNvPr>
          <p:cNvSpPr txBox="1"/>
          <p:nvPr/>
        </p:nvSpPr>
        <p:spPr>
          <a:xfrm>
            <a:off x="350454" y="3331470"/>
            <a:ext cx="461391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000" b="1" dirty="0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Name: </a:t>
            </a:r>
            <a:r>
              <a:rPr lang="en-IN" sz="1000" b="1" dirty="0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  </a:t>
            </a:r>
            <a:r>
              <a:rPr lang="en-IN" sz="1000" b="1" dirty="0" err="1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CodeFlex</a:t>
            </a:r>
            <a:endParaRPr lang="en-IN" sz="1000" b="1" dirty="0">
              <a:solidFill>
                <a:srgbClr val="F47B2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000" b="1" dirty="0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Members: Samadhan Mane</a:t>
            </a:r>
          </a:p>
          <a:p>
            <a:r>
              <a:rPr lang="en-IN" sz="1000" b="1" dirty="0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  Sakshi </a:t>
            </a:r>
            <a:r>
              <a:rPr lang="en-IN" sz="1000" b="1" dirty="0" err="1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Bhingarkar</a:t>
            </a:r>
            <a:endParaRPr lang="en-IN" sz="1000" b="1" dirty="0">
              <a:solidFill>
                <a:srgbClr val="F47B2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000" b="1" dirty="0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  Pranav </a:t>
            </a:r>
            <a:r>
              <a:rPr lang="en-IN" sz="1000" b="1" dirty="0" err="1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Karande</a:t>
            </a:r>
            <a:endParaRPr lang="en-IN" sz="1000" b="1" dirty="0">
              <a:solidFill>
                <a:srgbClr val="F47B2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86888" y="4014216"/>
            <a:ext cx="5212080" cy="713232"/>
          </a:xfrm>
          <a:prstGeom prst="roundRect">
            <a:avLst/>
          </a:prstGeom>
          <a:solidFill>
            <a:srgbClr val="FFF3E8"/>
          </a:solidFill>
          <a:ln w="12700">
            <a:solidFill>
              <a:srgbClr val="F47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4493" y="4224022"/>
            <a:ext cx="594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dirty="0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FOCUS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4196" y="4133173"/>
            <a:ext cx="41148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Borrowers comparing personal loans and trying to understand real cost before committing.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62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8286750" cy="7078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sz="2300" b="1" dirty="0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PROBLEM: BORROWERS SEE THE RATE, BUT NOT THE FULL DECISION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206092" y="1280295"/>
            <a:ext cx="4644889" cy="371475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571500" y="1411560"/>
            <a:ext cx="4359139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888888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 FICTIONAL LOAN COMPARISON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410873" y="2151851"/>
            <a:ext cx="4359139" cy="3402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Primary user: a financially inexperienced consumer comparing a loan and planning to repay early.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28612" y="2655132"/>
            <a:ext cx="2136707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8611" y="2594409"/>
            <a:ext cx="2136707" cy="35719"/>
          </a:xfrm>
          <a:prstGeom prst="rect">
            <a:avLst/>
          </a:prstGeom>
          <a:solidFill>
            <a:srgbClr val="FF8A6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470529" y="2759106"/>
            <a:ext cx="1936682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Product A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70529" y="3023424"/>
            <a:ext cx="817531" cy="276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25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10.5%</a:t>
            </a:r>
            <a:endParaRPr lang="en-US" sz="22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70529" y="3380612"/>
            <a:ext cx="1936682" cy="10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kern="0" spc="1" dirty="0">
                <a:solidFill>
                  <a:srgbClr val="888888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HEADLINE APR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470529" y="3548490"/>
            <a:ext cx="921727" cy="191847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+ 2%</a:t>
            </a:r>
            <a:r>
              <a:rPr lang="en-US" sz="8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processing fee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470529" y="3814595"/>
            <a:ext cx="1591782" cy="191847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+ possible</a:t>
            </a:r>
            <a:r>
              <a:rPr lang="en-US" sz="8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early-repayment charge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2633305" y="2655132"/>
            <a:ext cx="2136707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2633305" y="2590838"/>
            <a:ext cx="2136707" cy="35719"/>
          </a:xfrm>
          <a:prstGeom prst="rect">
            <a:avLst/>
          </a:prstGeom>
          <a:solidFill>
            <a:srgbClr val="AAAAAA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2733317" y="2755145"/>
            <a:ext cx="1936682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Product B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2733317" y="3019463"/>
            <a:ext cx="801630" cy="276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25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11.2%</a:t>
            </a:r>
            <a:endParaRPr lang="en-US" sz="22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2733317" y="3376651"/>
            <a:ext cx="1936682" cy="10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kern="0" spc="1" dirty="0">
                <a:solidFill>
                  <a:srgbClr val="888888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HEADLINE APR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733317" y="3544529"/>
            <a:ext cx="795089" cy="194797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+ $2,000</a:t>
            </a:r>
            <a:r>
              <a:rPr lang="en-US" sz="8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fixed fee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2733317" y="3810634"/>
            <a:ext cx="1229504" cy="191847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+ no fee</a:t>
            </a:r>
            <a:r>
              <a:rPr lang="en-US" sz="8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after stated period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396585" y="4317152"/>
            <a:ext cx="4359139" cy="407163"/>
          </a:xfrm>
          <a:prstGeom prst="rect">
            <a:avLst/>
          </a:prstGeom>
          <a:noFill/>
          <a:ln/>
        </p:spPr>
        <p:txBody>
          <a:bodyPr wrap="square" lIns="0" tIns="102108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What looks cheaper at first glance can change after </a:t>
            </a:r>
            <a:r>
              <a:rPr lang="en-US" sz="95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fees + conditions + timing</a:t>
            </a:r>
            <a:r>
              <a:rPr lang="en-US" sz="9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are included.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5359264" y="1311548"/>
            <a:ext cx="3356111" cy="5396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The first user is not “everyone.” It is a borrower who needs a decision, not a document summary.</a:t>
            </a:r>
            <a:endParaRPr lang="en-US" sz="1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5359264" y="2038034"/>
            <a:ext cx="141064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01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616439" y="2038034"/>
            <a:ext cx="3098936" cy="297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Headline claims are easy to compare; the conditions that determine actual cost are not.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5359264" y="2463757"/>
            <a:ext cx="141064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02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5616439" y="2463757"/>
            <a:ext cx="3098936" cy="297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The user must search manually, interpret terminology, compare clauses, and calculate consequences.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359264" y="2889479"/>
            <a:ext cx="141064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03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616439" y="2889479"/>
            <a:ext cx="3098936" cy="297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FinExplain is designed to make that chain inspectable before the commitment.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5359264" y="3479509"/>
            <a:ext cx="322204" cy="1923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59%</a:t>
            </a:r>
            <a:endParaRPr lang="en-US" sz="12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5802455" y="3531021"/>
            <a:ext cx="2585644" cy="1193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had a major unexpected expense in the prior 12 months.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359264" y="3808121"/>
            <a:ext cx="322204" cy="1923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16%</a:t>
            </a:r>
            <a:endParaRPr lang="en-US" sz="12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5802455" y="3875735"/>
            <a:ext cx="1703993" cy="1193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did not pay all bills in the prior month.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5359264" y="4136734"/>
            <a:ext cx="322204" cy="1923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63%</a:t>
            </a:r>
            <a:endParaRPr lang="en-US" sz="12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802455" y="4136734"/>
            <a:ext cx="2912920" cy="24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could cover a hypothetical $400 emergency with cash or its equivalent.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E54F7E-9DE6-1C46-D567-FFDF6FD393CB}"/>
              </a:ext>
            </a:extLst>
          </p:cNvPr>
          <p:cNvSpPr txBox="1"/>
          <p:nvPr/>
        </p:nvSpPr>
        <p:spPr>
          <a:xfrm>
            <a:off x="5359264" y="4613953"/>
            <a:ext cx="282292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[1] Federal Reserve, SHED 2025, released May 2026. . </a:t>
            </a:r>
            <a:endParaRPr lang="en-IN" sz="8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391829" y="1068661"/>
            <a:ext cx="4273414" cy="972863"/>
          </a:xfrm>
          <a:prstGeom prst="roundRect">
            <a:avLst/>
          </a:prstGeom>
          <a:solidFill>
            <a:srgbClr val="FFF3E8"/>
          </a:solidFill>
          <a:ln w="12700">
            <a:solidFill>
              <a:srgbClr val="F47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19681" y="1085253"/>
            <a:ext cx="1762932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dirty="0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9681" y="1259772"/>
            <a:ext cx="4194714" cy="78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1" dirty="0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comparing loans, borrowers often see a headline APR but must manually find fees, penalties, eligibility rules and repayment conditions across multiple documents to determine the actual cost for their situation.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28625" y="285750"/>
            <a:ext cx="8286750" cy="3185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9600"/>
              </a:lnSpc>
              <a:buNone/>
            </a:pPr>
            <a:r>
              <a:rPr sz="2300" b="1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WHY THIS MATTERS FOR LOAN DECISIONS</a:t>
            </a: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255629" y="2723386"/>
            <a:ext cx="4486945" cy="226595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453338" y="3058579"/>
            <a:ext cx="4086895" cy="153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2024 NFCS knowledge indicators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53338" y="3390763"/>
            <a:ext cx="1357313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Answered ≥5 of 7 knowledge questions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810651" y="3403265"/>
            <a:ext cx="2200945" cy="242888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4181160" y="3444341"/>
            <a:ext cx="359073" cy="215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27%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453338" y="3815816"/>
            <a:ext cx="1357313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Answered inflation question correctly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1810651" y="3828318"/>
            <a:ext cx="2200945" cy="242888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285356" y="3869394"/>
            <a:ext cx="254877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58%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53338" y="4240869"/>
            <a:ext cx="1357313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Age 18–34: inflation question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1810651" y="4253371"/>
            <a:ext cx="2200945" cy="242888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4285356" y="4294447"/>
            <a:ext cx="254877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44%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53338" y="4665922"/>
            <a:ext cx="4086895" cy="923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i="1" dirty="0">
                <a:solidFill>
                  <a:srgbClr val="888888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[2] FINRA Foundation / FINRA, 2024 NFCS findings, released April 2025.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201320" y="941365"/>
            <a:ext cx="3625993" cy="3711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The real challenge isn't finding information. </a:t>
            </a:r>
          </a:p>
          <a:p>
            <a:pPr>
              <a:lnSpc>
                <a:spcPct val="104000"/>
              </a:lnSpc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It's understanding what it means for the decision.</a:t>
            </a:r>
            <a:endParaRPr lang="en-US" sz="11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5210554" y="1590265"/>
            <a:ext cx="128240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01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513081" y="1830499"/>
            <a:ext cx="2859757" cy="2782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9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Important terms are spread across rates, fee schedules,</a:t>
            </a:r>
          </a:p>
          <a:p>
            <a:pPr>
              <a:lnSpc>
                <a:spcPct val="104000"/>
              </a:lnSpc>
            </a:pPr>
            <a:r>
              <a:rPr lang="en-US" sz="9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eligibility rules and repayment conditions.</a:t>
            </a:r>
            <a:endParaRPr lang="en-US" sz="85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5201385" y="2286381"/>
            <a:ext cx="128240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02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513146" y="2530771"/>
            <a:ext cx="2096728" cy="2782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9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terminology and exceptions are</a:t>
            </a:r>
          </a:p>
          <a:p>
            <a:pPr>
              <a:lnSpc>
                <a:spcPct val="104000"/>
              </a:lnSpc>
            </a:pPr>
            <a:r>
              <a:rPr lang="en-US" sz="9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difficult to interpret quickly.</a:t>
            </a:r>
          </a:p>
        </p:txBody>
      </p:sp>
      <p:sp>
        <p:nvSpPr>
          <p:cNvPr id="21" name="Text 18"/>
          <p:cNvSpPr/>
          <p:nvPr/>
        </p:nvSpPr>
        <p:spPr>
          <a:xfrm>
            <a:off x="5194264" y="2989231"/>
            <a:ext cx="128240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03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5513081" y="2687222"/>
            <a:ext cx="65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5201320" y="3050437"/>
            <a:ext cx="65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5501357" y="3050437"/>
            <a:ext cx="65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201320" y="3579075"/>
            <a:ext cx="65" cy="1384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5501357" y="3589790"/>
            <a:ext cx="65" cy="1308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5277498" y="4130948"/>
            <a:ext cx="3514055" cy="462050"/>
          </a:xfrm>
          <a:prstGeom prst="rect">
            <a:avLst/>
          </a:prstGeom>
          <a:noFill/>
          <a:ln/>
        </p:spPr>
        <p:txBody>
          <a:bodyPr wrap="square" lIns="0" tIns="136017" rIns="0" bIns="0" rtlCol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Fin-Explain turns this scattered information into an</a:t>
            </a:r>
          </a:p>
          <a:p>
            <a:pPr>
              <a:lnSpc>
                <a:spcPct val="108000"/>
              </a:lnSpc>
            </a:pP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evidence backed decision journey.</a:t>
            </a:r>
          </a:p>
        </p:txBody>
      </p:sp>
      <p:sp>
        <p:nvSpPr>
          <p:cNvPr id="28" name="Text 25"/>
          <p:cNvSpPr/>
          <p:nvPr/>
        </p:nvSpPr>
        <p:spPr>
          <a:xfrm>
            <a:off x="5201320" y="4772081"/>
            <a:ext cx="3514055" cy="126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[2] FINRA Foundation / FINRA, 2024 NFCS findings, released April 2025</a:t>
            </a:r>
            <a:endParaRPr lang="en-US" sz="65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C19850D-C3FE-0F27-7923-B3857E577DE1}"/>
              </a:ext>
            </a:extLst>
          </p:cNvPr>
          <p:cNvCxnSpPr>
            <a:cxnSpLocks/>
          </p:cNvCxnSpPr>
          <p:nvPr/>
        </p:nvCxnSpPr>
        <p:spPr>
          <a:xfrm flipH="1">
            <a:off x="5277433" y="1825410"/>
            <a:ext cx="65" cy="3452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FDE313B-EBC4-ADF1-6FD6-B5979CAC2BAE}"/>
              </a:ext>
            </a:extLst>
          </p:cNvPr>
          <p:cNvSpPr txBox="1"/>
          <p:nvPr/>
        </p:nvSpPr>
        <p:spPr>
          <a:xfrm>
            <a:off x="5424867" y="1509876"/>
            <a:ext cx="6766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Find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095B207-3C2B-19CC-6C80-B111F7C1AE2B}"/>
              </a:ext>
            </a:extLst>
          </p:cNvPr>
          <p:cNvSpPr txBox="1"/>
          <p:nvPr/>
        </p:nvSpPr>
        <p:spPr>
          <a:xfrm>
            <a:off x="5424867" y="2190340"/>
            <a:ext cx="14663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Understand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CEC6411-27EB-1983-4B58-EB1E209A0241}"/>
              </a:ext>
            </a:extLst>
          </p:cNvPr>
          <p:cNvCxnSpPr>
            <a:cxnSpLocks/>
          </p:cNvCxnSpPr>
          <p:nvPr/>
        </p:nvCxnSpPr>
        <p:spPr>
          <a:xfrm flipH="1">
            <a:off x="5263538" y="2501165"/>
            <a:ext cx="65" cy="3452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BF4A4AC-B158-3BB8-F5F8-3663BE7624DE}"/>
              </a:ext>
            </a:extLst>
          </p:cNvPr>
          <p:cNvSpPr txBox="1"/>
          <p:nvPr/>
        </p:nvSpPr>
        <p:spPr>
          <a:xfrm>
            <a:off x="5408577" y="2882469"/>
            <a:ext cx="11338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Compare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BC1DEED-A0C6-0169-048A-6BAB461DEFA0}"/>
              </a:ext>
            </a:extLst>
          </p:cNvPr>
          <p:cNvSpPr txBox="1"/>
          <p:nvPr/>
        </p:nvSpPr>
        <p:spPr>
          <a:xfrm>
            <a:off x="5408577" y="3205266"/>
            <a:ext cx="2964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Users must connect those clauses and calculate how </a:t>
            </a:r>
          </a:p>
          <a:p>
            <a:r>
              <a:rPr lang="en-US" sz="9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they affect their specific situation.</a:t>
            </a:r>
            <a:endParaRPr lang="en-IN" sz="9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190273A-0C69-1346-C58F-D06E9BCF24D3}"/>
              </a:ext>
            </a:extLst>
          </p:cNvPr>
          <p:cNvCxnSpPr>
            <a:cxnSpLocks/>
          </p:cNvCxnSpPr>
          <p:nvPr/>
        </p:nvCxnSpPr>
        <p:spPr>
          <a:xfrm flipH="1">
            <a:off x="5263538" y="3209592"/>
            <a:ext cx="65" cy="3452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255629" y="945637"/>
            <a:ext cx="4486750" cy="13258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0E3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52185" y="1488160"/>
            <a:ext cx="777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dirty="0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GAP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36581" y="1244184"/>
            <a:ext cx="33375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Information exists. The missing layer is connecting scattered loan clauses to one borrower scenario with evidence, calculations and clear uncertainty.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8286750" cy="3539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sz="2300" b="1" dirty="0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GAP FINEXPLAIN ADDRESSES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428625" y="615740"/>
            <a:ext cx="6945812" cy="2631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9600"/>
              </a:lnSpc>
              <a:buNone/>
            </a:pPr>
            <a:r>
              <a:rPr lang="en-US" sz="19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The fine print is distributed across documents not decisions</a:t>
            </a: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428625" y="1028700"/>
            <a:ext cx="4488396" cy="3942011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71513" y="1271588"/>
            <a:ext cx="4002621" cy="153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From headline claim to verifiable choice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71513" y="1632347"/>
            <a:ext cx="300038" cy="300038"/>
          </a:xfrm>
          <a:prstGeom prst="rect">
            <a:avLst/>
          </a:prstGeom>
          <a:solidFill>
            <a:srgbClr val="FF8A6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786266" y="1705422"/>
            <a:ext cx="7053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1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1143000" y="1632347"/>
            <a:ext cx="3531133" cy="146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Headline claim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143000" y="1835944"/>
            <a:ext cx="3357563" cy="285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3600"/>
              </a:lnSpc>
              <a:buNone/>
            </a:pPr>
            <a:r>
              <a:rPr lang="en-US" sz="8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 short advertisement foregrounds an attractive rate, reward, or “low-cost” promise.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1143000" y="2267694"/>
            <a:ext cx="624632" cy="24645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1143000" y="2492722"/>
            <a:ext cx="624632" cy="21431"/>
          </a:xfrm>
          <a:prstGeom prst="rect">
            <a:avLst/>
          </a:prstGeom>
          <a:solidFill>
            <a:srgbClr val="FF8A6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143000" y="2267694"/>
            <a:ext cx="624632" cy="246459"/>
          </a:xfrm>
          <a:prstGeom prst="rect">
            <a:avLst/>
          </a:prstGeom>
          <a:noFill/>
          <a:ln/>
        </p:spPr>
        <p:txBody>
          <a:bodyPr wrap="none" lIns="85090" tIns="68072" rIns="85090" bIns="68072" rtlCol="0" anchor="t">
            <a:sp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10.5% APR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1839069" y="2267694"/>
            <a:ext cx="530033" cy="2250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839069" y="2267694"/>
            <a:ext cx="518091" cy="237501"/>
          </a:xfrm>
          <a:prstGeom prst="rect">
            <a:avLst/>
          </a:prstGeom>
          <a:noFill/>
          <a:ln/>
        </p:spPr>
        <p:txBody>
          <a:bodyPr wrap="none" lIns="85090" tIns="68072" rIns="85090" bIns="68072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“Low fee”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671513" y="2764185"/>
            <a:ext cx="300038" cy="30003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86266" y="2837260"/>
            <a:ext cx="7053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2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143000" y="2764185"/>
            <a:ext cx="3531133" cy="146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Distributed fine print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1143000" y="2967782"/>
            <a:ext cx="3357563" cy="285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3600"/>
              </a:lnSpc>
              <a:buNone/>
            </a:pPr>
            <a:r>
              <a:rPr lang="en-US" sz="8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Fees, exceptions, late-payment rules, eligibility, and early-repayment conditions sit across schedules and terms.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1143000" y="3399532"/>
            <a:ext cx="700478" cy="2250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143000" y="3399532"/>
            <a:ext cx="673582" cy="237501"/>
          </a:xfrm>
          <a:prstGeom prst="rect">
            <a:avLst/>
          </a:prstGeom>
          <a:noFill/>
          <a:ln/>
        </p:spPr>
        <p:txBody>
          <a:bodyPr wrap="none" lIns="85090" tIns="68072" rIns="85090" bIns="68072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Fee schedule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1914916" y="3399532"/>
            <a:ext cx="530089" cy="2250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1914916" y="3399532"/>
            <a:ext cx="519694" cy="237501"/>
          </a:xfrm>
          <a:prstGeom prst="rect">
            <a:avLst/>
          </a:prstGeom>
          <a:noFill/>
          <a:ln/>
        </p:spPr>
        <p:txBody>
          <a:bodyPr wrap="none" lIns="85090" tIns="68072" rIns="85090" bIns="68072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Section 8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2516442" y="3399532"/>
            <a:ext cx="684851" cy="2250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2516442" y="3399532"/>
            <a:ext cx="662361" cy="237501"/>
          </a:xfrm>
          <a:prstGeom prst="rect">
            <a:avLst/>
          </a:prstGeom>
          <a:noFill/>
          <a:ln/>
        </p:spPr>
        <p:txBody>
          <a:bodyPr wrap="none" lIns="85090" tIns="68072" rIns="85090" bIns="68072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Eligibility rule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671513" y="3896023"/>
            <a:ext cx="300038" cy="300038"/>
          </a:xfrm>
          <a:prstGeom prst="rect">
            <a:avLst/>
          </a:prstGeom>
          <a:solidFill>
            <a:srgbClr val="FF8A6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786266" y="3969098"/>
            <a:ext cx="7053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3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1143000" y="3896023"/>
            <a:ext cx="3531133" cy="146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Verifiable choice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1143000" y="4099620"/>
            <a:ext cx="3357563" cy="285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3600"/>
              </a:lnSpc>
              <a:buNone/>
            </a:pPr>
            <a:r>
              <a:rPr lang="en-US" sz="8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The user needs an explanation that connects the decision to exact clauses, dates, and uncertainty.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1143000" y="4531370"/>
            <a:ext cx="1236873" cy="24645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1143000" y="4756398"/>
            <a:ext cx="1236873" cy="21431"/>
          </a:xfrm>
          <a:prstGeom prst="rect">
            <a:avLst/>
          </a:prstGeom>
          <a:solidFill>
            <a:srgbClr val="FF8A6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1143000" y="4531370"/>
            <a:ext cx="1152880" cy="237501"/>
          </a:xfrm>
          <a:prstGeom prst="rect">
            <a:avLst/>
          </a:prstGeom>
          <a:noFill/>
          <a:ln/>
        </p:spPr>
        <p:txBody>
          <a:bodyPr wrap="none" lIns="85090" tIns="68072" rIns="85090" bIns="68072" rtlCol="0" anchor="t">
            <a:sp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What the document says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2451311" y="4531370"/>
            <a:ext cx="710580" cy="22502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2451311" y="4531370"/>
            <a:ext cx="678391" cy="237501"/>
          </a:xfrm>
          <a:prstGeom prst="rect">
            <a:avLst/>
          </a:prstGeom>
          <a:noFill/>
          <a:ln/>
        </p:spPr>
        <p:txBody>
          <a:bodyPr wrap="none" lIns="85090" tIns="68072" rIns="85090" bIns="68072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What to verify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202771" y="1297345"/>
            <a:ext cx="3071813" cy="166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IN" sz="1050" b="1" dirty="0">
                <a:latin typeface="Arial" panose="020B0604020202020204" pitchFamily="34" charset="0"/>
                <a:cs typeface="Arial" panose="020B0604020202020204" pitchFamily="34" charset="0"/>
              </a:rPr>
              <a:t>THE GAP FINEXPLAIN ADDRESSES </a:t>
            </a:r>
            <a:endParaRPr lang="en-US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5207058" y="1782613"/>
            <a:ext cx="141064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01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5474233" y="1759090"/>
            <a:ext cx="3241142" cy="297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9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Headline rates are easy to compare. </a:t>
            </a:r>
          </a:p>
          <a:p>
            <a:pPr>
              <a:lnSpc>
                <a:spcPct val="112000"/>
              </a:lnSpc>
            </a:pPr>
            <a:r>
              <a:rPr lang="en-US" sz="9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Actual cost is not</a:t>
            </a:r>
          </a:p>
        </p:txBody>
      </p:sp>
      <p:sp>
        <p:nvSpPr>
          <p:cNvPr id="38" name="Text 35"/>
          <p:cNvSpPr/>
          <p:nvPr/>
        </p:nvSpPr>
        <p:spPr>
          <a:xfrm>
            <a:off x="5213244" y="2361096"/>
            <a:ext cx="141064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02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475293" y="2336563"/>
            <a:ext cx="2526767" cy="301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9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Users must manually find, interpret and connect </a:t>
            </a:r>
          </a:p>
          <a:p>
            <a:pPr>
              <a:lnSpc>
                <a:spcPct val="112000"/>
              </a:lnSpc>
            </a:pPr>
            <a:r>
              <a:rPr lang="en-US" sz="9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clauses across documents.</a:t>
            </a:r>
          </a:p>
        </p:txBody>
      </p:sp>
      <p:sp>
        <p:nvSpPr>
          <p:cNvPr id="40" name="Text 37"/>
          <p:cNvSpPr/>
          <p:nvPr/>
        </p:nvSpPr>
        <p:spPr>
          <a:xfrm>
            <a:off x="5202771" y="2938570"/>
            <a:ext cx="141064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03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5475293" y="2889305"/>
            <a:ext cx="2255495" cy="301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9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Missing or conflicting information should</a:t>
            </a:r>
          </a:p>
          <a:p>
            <a:pPr>
              <a:lnSpc>
                <a:spcPct val="112000"/>
              </a:lnSpc>
            </a:pPr>
            <a:r>
              <a:rPr lang="en-US" sz="9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be exposed, not guessed. </a:t>
            </a:r>
          </a:p>
        </p:txBody>
      </p:sp>
      <p:sp>
        <p:nvSpPr>
          <p:cNvPr id="42" name="Text 39"/>
          <p:cNvSpPr/>
          <p:nvPr/>
        </p:nvSpPr>
        <p:spPr>
          <a:xfrm>
            <a:off x="5202771" y="3345173"/>
            <a:ext cx="65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5474233" y="3345173"/>
            <a:ext cx="3241142" cy="1468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5202769" y="3687052"/>
            <a:ext cx="3071813" cy="883896"/>
          </a:xfrm>
          <a:prstGeom prst="rect">
            <a:avLst/>
          </a:prstGeom>
          <a:noFill/>
          <a:ln/>
        </p:spPr>
        <p:txBody>
          <a:bodyPr wrap="square" lIns="0" tIns="153035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sz="1500" b="1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FinExplain connects scattered loan evidence into an inspectable decision.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6572250" cy="594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sz="2100" b="1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PROPOSED SOLUTION: TURN LOAN DOCUMENTS INTO A TRANSPARENT DECISION</a:t>
            </a: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428626" y="1152935"/>
            <a:ext cx="4597188" cy="3075526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657225" y="1644179"/>
            <a:ext cx="4190423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kern="0" spc="1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 DECISION JOURNEY GROUNDED IN SOURCE DOCUMENTS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57225" y="1990651"/>
            <a:ext cx="298159" cy="2585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1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01</a:t>
            </a:r>
            <a:endParaRPr lang="en-US" sz="2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657225" y="2419276"/>
            <a:ext cx="280526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Ask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657225" y="2701454"/>
            <a:ext cx="1149139" cy="74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Select one or more products, upload documents, and ask about fees, penalties, eligibility, or repayment.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2177839" y="1990651"/>
            <a:ext cx="298159" cy="2585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1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02</a:t>
            </a:r>
            <a:endParaRPr lang="en-US" sz="2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2177839" y="2419276"/>
            <a:ext cx="665247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Compare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2177839" y="2701454"/>
            <a:ext cx="1149139" cy="89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See important terms side by side, including headline rates, conditions, exclusions, and potential cost drivers.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698453" y="1990651"/>
            <a:ext cx="298159" cy="2585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1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03</a:t>
            </a:r>
            <a:endParaRPr lang="en-US" sz="2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698453" y="2419276"/>
            <a:ext cx="417935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Verify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3698453" y="2701454"/>
            <a:ext cx="1149139" cy="74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Open the exact source section, page, and retrieved passage supporting each material claim.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657225" y="3831322"/>
            <a:ext cx="4190423" cy="318485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5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Example question:</a:t>
            </a:r>
            <a:r>
              <a:rPr lang="en-US" sz="900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“Which conditions could make this product more expensive?”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361998" y="1441642"/>
            <a:ext cx="3353377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Every answer separates meaning from evidence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5361998" y="1955992"/>
            <a:ext cx="3353377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888888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PLAIN-LANGUAGE EXPLANATION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361998" y="2127442"/>
            <a:ext cx="3353377" cy="3143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The assistant translates complex terms without removing qualifications or exceptions.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5361998" y="2780314"/>
            <a:ext cx="3353377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888888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STRUCTURED COMPARISON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361998" y="2951764"/>
            <a:ext cx="3353377" cy="3143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Rates, fees, repayment conditions, and eligibility appear in a consistent format.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5361998" y="3604636"/>
            <a:ext cx="3353377" cy="107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888888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UNCERTAINTY BEHAVIOR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5361998" y="3776086"/>
            <a:ext cx="3353377" cy="3143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Not specified</a:t>
            </a:r>
            <a:r>
              <a:rPr lang="en-US" sz="9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when the available documents do not contain the requested detail.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58368" y="1168292"/>
            <a:ext cx="8007650" cy="658368"/>
          </a:xfrm>
          <a:prstGeom prst="roundRect">
            <a:avLst/>
          </a:prstGeom>
          <a:solidFill>
            <a:srgbClr val="FFF3E8"/>
          </a:solidFill>
          <a:ln w="12700">
            <a:solidFill>
              <a:srgbClr val="F47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58367" y="1335023"/>
            <a:ext cx="879179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dirty="0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SOLUTION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9434" y="1298725"/>
            <a:ext cx="726594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Upload official loan documents → retrieve relevant clauses → compare terms → calculate scenario cost → explain in plain language → verify every material claim.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26" y="4423840"/>
            <a:ext cx="8481694" cy="608895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0E3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8625" y="4602387"/>
            <a:ext cx="941959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dirty="0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FEATURES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169" y="4673325"/>
            <a:ext cx="7685151" cy="249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 dirty="0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Evidence-linked answers · Structured loan comparison · Scenario cost calculation · Missing-info flags · Conflict detection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546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8286750" cy="3231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sz="2100" b="1" dirty="0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TECHNOLOGY STACK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585788" y="1071563"/>
            <a:ext cx="4251089" cy="161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One category, one auditable journey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585788" y="1293019"/>
            <a:ext cx="4000500" cy="256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Start with personal loans or credit cards, where rates, hidden fees, and repayment conditions directly affect consumer decisions.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585788" y="1710928"/>
            <a:ext cx="4251089" cy="478272"/>
          </a:xfrm>
          <a:prstGeom prst="rect">
            <a:avLst/>
          </a:prstGeom>
          <a:noFill/>
          <a:ln/>
        </p:spPr>
        <p:txBody>
          <a:bodyPr wrap="square" lIns="0" tIns="102108" rIns="0" bIns="102108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Primary user:</a:t>
            </a:r>
            <a:r>
              <a:rPr lang="en-US" sz="8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financially inexperienced consumers comparing loans or credit cards who need a clear answer before committing.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685800" y="2483793"/>
            <a:ext cx="495007" cy="1077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01 · SCOPE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85800" y="2655243"/>
            <a:ext cx="1003480" cy="1489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Personal loans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5800" y="2885238"/>
            <a:ext cx="1209861" cy="364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Ingest two or three product document sets with dates and source metadata.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685800" y="3461705"/>
            <a:ext cx="799899" cy="1000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Upload + parse PDFs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85800" y="3627797"/>
            <a:ext cx="1209861" cy="10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Preserve sections and pages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102830" y="2483793"/>
            <a:ext cx="495007" cy="1077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02 · PROVE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2102830" y="2655243"/>
            <a:ext cx="1209861" cy="297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Compare + scenario-test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2102830" y="3058083"/>
            <a:ext cx="1209861" cy="4893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Answer the $20,000 / six-month question with structured comparison and calculation.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2102830" y="3769556"/>
            <a:ext cx="912109" cy="1000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Side-by-side cost drivers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2102830" y="3935648"/>
            <a:ext cx="912109" cy="1000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Visible calculation inputs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3519860" y="2483793"/>
            <a:ext cx="628314" cy="1077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03 · MEASURE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3519860" y="2655243"/>
            <a:ext cx="1217005" cy="14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Verify + evaluate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3519860" y="3058083"/>
            <a:ext cx="1217005" cy="4893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Test citation coverage, missing information, conflicts, and unsupported claims.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3519860" y="3769556"/>
            <a:ext cx="960199" cy="1000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Claim → evidence checks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519860" y="3935648"/>
            <a:ext cx="956993" cy="1000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Known-answer evaluation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585788" y="4337484"/>
            <a:ext cx="501740" cy="1231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Document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1201769" y="4337484"/>
            <a:ext cx="109004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→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373219" y="4337484"/>
            <a:ext cx="407163" cy="1231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Retrieve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1881485" y="4337484"/>
            <a:ext cx="109004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→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2052935" y="4337484"/>
            <a:ext cx="458459" cy="1231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Calculate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2618296" y="4337484"/>
            <a:ext cx="109004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→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2789746" y="4337484"/>
            <a:ext cx="367088" cy="1231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Explain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3253420" y="4337484"/>
            <a:ext cx="109004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→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3424870" y="4337484"/>
            <a:ext cx="286938" cy="1231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Verify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5279789" y="1221647"/>
            <a:ext cx="3435586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Technical stack to finalize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279789" y="1650206"/>
            <a:ext cx="387927" cy="1077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Frontend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5279789" y="1803797"/>
            <a:ext cx="1340110" cy="1154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Upload, questions, comparison,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5279789" y="1928813"/>
            <a:ext cx="351058" cy="1154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citations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7069020" y="1650206"/>
            <a:ext cx="371897" cy="1077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Backend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7069020" y="1803797"/>
            <a:ext cx="1375377" cy="1154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API orchestration and structured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7069020" y="1928813"/>
            <a:ext cx="440826" cy="1154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responses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5279789" y="2168128"/>
            <a:ext cx="940963" cy="1077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Document processing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5279789" y="2321719"/>
            <a:ext cx="1461939" cy="1154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PDF parser / OCR / section-aware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5279789" y="2446734"/>
            <a:ext cx="381515" cy="1154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chunking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7069020" y="2168128"/>
            <a:ext cx="379912" cy="1077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Retrieval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7069020" y="2321719"/>
            <a:ext cx="1240724" cy="1154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Embeddings + vector index +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7069020" y="2446734"/>
            <a:ext cx="670055" cy="1154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keyword search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 44"/>
          <p:cNvSpPr/>
          <p:nvPr/>
        </p:nvSpPr>
        <p:spPr>
          <a:xfrm>
            <a:off x="5279789" y="2686050"/>
            <a:ext cx="437620" cy="1077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Reranking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5279789" y="2839641"/>
            <a:ext cx="1537280" cy="1154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Question/product/date-aware clause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5279789" y="2964656"/>
            <a:ext cx="312586" cy="1154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ranking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7069020" y="2686050"/>
            <a:ext cx="484107" cy="1077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Calculation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 48"/>
          <p:cNvSpPr/>
          <p:nvPr/>
        </p:nvSpPr>
        <p:spPr>
          <a:xfrm>
            <a:off x="7069020" y="2839641"/>
            <a:ext cx="1330492" cy="1154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Deterministic cost and scenario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7069020" y="2964656"/>
            <a:ext cx="285335" cy="1154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engine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5279789" y="3203972"/>
            <a:ext cx="474489" cy="1077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Generation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Text 51"/>
          <p:cNvSpPr/>
          <p:nvPr/>
        </p:nvSpPr>
        <p:spPr>
          <a:xfrm>
            <a:off x="5279789" y="3357563"/>
            <a:ext cx="1275990" cy="1154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LLM explanation with citations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7069020" y="3203972"/>
            <a:ext cx="490519" cy="1077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Verification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7069020" y="3357563"/>
            <a:ext cx="1203856" cy="1154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Claim entailment + conflict +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Text 54"/>
          <p:cNvSpPr/>
          <p:nvPr/>
        </p:nvSpPr>
        <p:spPr>
          <a:xfrm>
            <a:off x="7069020" y="3482578"/>
            <a:ext cx="738985" cy="1154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missing-info flags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 55"/>
          <p:cNvSpPr/>
          <p:nvPr/>
        </p:nvSpPr>
        <p:spPr>
          <a:xfrm>
            <a:off x="5279789" y="3786188"/>
            <a:ext cx="3435586" cy="561244"/>
          </a:xfrm>
          <a:prstGeom prst="rect">
            <a:avLst/>
          </a:prstGeom>
          <a:noFill/>
          <a:ln/>
        </p:spPr>
        <p:txBody>
          <a:bodyPr wrap="square" lIns="0" tIns="119126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Future expansion:</a:t>
            </a:r>
            <a:r>
              <a:rPr lang="en-US" sz="9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after loans, we will extend the same evidence-first layer to insurance, mortgages, and other document-heavy products.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412821" y="928412"/>
            <a:ext cx="4553079" cy="3783973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0E3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553007" y="1219635"/>
            <a:ext cx="2971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 STACK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6446520"/>
            <a:ext cx="475488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65E6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Roadmap · Scalability</a:t>
            </a:r>
          </a:p>
        </p:txBody>
      </p:sp>
      <p:sp>
        <p:nvSpPr>
          <p:cNvPr id="66" name="Rectangle 3">
            <a:extLst>
              <a:ext uri="{FF2B5EF4-FFF2-40B4-BE49-F238E27FC236}">
                <a16:creationId xmlns:a16="http://schemas.microsoft.com/office/drawing/2014/main" id="{FEF2E49B-120D-7A2F-CE8D-D4792AA753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6815" y="1450360"/>
            <a:ext cx="4462889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N" sz="1100" b="1" dirty="0">
                <a:latin typeface="Arial" panose="020B0604020202020204" pitchFamily="34" charset="0"/>
                <a:cs typeface="Arial" panose="020B0604020202020204" pitchFamily="34" charset="0"/>
              </a:rPr>
              <a:t>Frontend:</a:t>
            </a:r>
            <a: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  <a:t> React.js · Tailwind CSS · React Router · Axios</a:t>
            </a:r>
          </a:p>
          <a:p>
            <a:b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1100" b="1" dirty="0">
                <a:latin typeface="Arial" panose="020B0604020202020204" pitchFamily="34" charset="0"/>
                <a:cs typeface="Arial" panose="020B0604020202020204" pitchFamily="34" charset="0"/>
              </a:rPr>
              <a:t>Backend:</a:t>
            </a:r>
            <a: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  <a:t> Node.js · Express.js · REST APIs · JWT · </a:t>
            </a:r>
            <a:r>
              <a:rPr lang="en-IN" sz="1100" dirty="0" err="1">
                <a:latin typeface="Arial" panose="020B0604020202020204" pitchFamily="34" charset="0"/>
                <a:cs typeface="Arial" panose="020B0604020202020204" pitchFamily="34" charset="0"/>
              </a:rPr>
              <a:t>bcrypt</a:t>
            </a:r>
            <a:endParaRPr lang="en-IN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1100" b="1" dirty="0">
                <a:latin typeface="Arial" panose="020B0604020202020204" pitchFamily="34" charset="0"/>
                <a:cs typeface="Arial" panose="020B0604020202020204" pitchFamily="34" charset="0"/>
              </a:rPr>
              <a:t>AI/RAG:</a:t>
            </a:r>
            <a: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  <a:t> Python · </a:t>
            </a:r>
            <a:r>
              <a:rPr lang="en-IN" sz="1100" dirty="0" err="1">
                <a:latin typeface="Arial" panose="020B0604020202020204" pitchFamily="34" charset="0"/>
                <a:cs typeface="Arial" panose="020B0604020202020204" pitchFamily="34" charset="0"/>
              </a:rPr>
              <a:t>LangChain</a:t>
            </a:r>
            <a: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  <a:t> · RAG · Agents · Custom Tools</a:t>
            </a:r>
          </a:p>
          <a:p>
            <a:b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1100" b="1" dirty="0">
                <a:latin typeface="Arial" panose="020B0604020202020204" pitchFamily="34" charset="0"/>
                <a:cs typeface="Arial" panose="020B0604020202020204" pitchFamily="34" charset="0"/>
              </a:rPr>
              <a:t>LLM:</a:t>
            </a:r>
            <a: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100" dirty="0" err="1">
                <a:latin typeface="Arial" panose="020B0604020202020204" pitchFamily="34" charset="0"/>
                <a:cs typeface="Arial" panose="020B0604020202020204" pitchFamily="34" charset="0"/>
              </a:rPr>
              <a:t>Groq</a:t>
            </a:r>
            <a: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  <a:t> API · Llama-based LLM</a:t>
            </a:r>
          </a:p>
          <a:p>
            <a:b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1100" b="1" dirty="0">
                <a:latin typeface="Arial" panose="020B0604020202020204" pitchFamily="34" charset="0"/>
                <a:cs typeface="Arial" panose="020B0604020202020204" pitchFamily="34" charset="0"/>
              </a:rPr>
              <a:t>Embeddings:</a:t>
            </a:r>
            <a: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  <a:t> Hugging Face · all-MiniLM-L6-v2</a:t>
            </a:r>
          </a:p>
          <a:p>
            <a:b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1100" b="1" dirty="0">
                <a:latin typeface="Arial" panose="020B0604020202020204" pitchFamily="34" charset="0"/>
                <a:cs typeface="Arial" panose="020B0604020202020204" pitchFamily="34" charset="0"/>
              </a:rPr>
              <a:t>Retrieval:</a:t>
            </a:r>
            <a: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  <a:t> Vector Search · Reranking</a:t>
            </a:r>
          </a:p>
          <a:p>
            <a:b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1100" b="1" dirty="0">
                <a:latin typeface="Arial" panose="020B0604020202020204" pitchFamily="34" charset="0"/>
                <a:cs typeface="Arial" panose="020B0604020202020204" pitchFamily="34" charset="0"/>
              </a:rPr>
              <a:t>Databases:</a:t>
            </a:r>
            <a: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100" dirty="0" err="1">
                <a:latin typeface="Arial" panose="020B0604020202020204" pitchFamily="34" charset="0"/>
                <a:cs typeface="Arial" panose="020B0604020202020204" pitchFamily="34" charset="0"/>
              </a:rPr>
              <a:t>PostgreSql</a:t>
            </a:r>
            <a: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  <a:t> · Pinecone</a:t>
            </a:r>
          </a:p>
          <a:p>
            <a:b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1100" b="1" dirty="0">
                <a:latin typeface="Arial" panose="020B0604020202020204" pitchFamily="34" charset="0"/>
                <a:cs typeface="Arial" panose="020B0604020202020204" pitchFamily="34" charset="0"/>
              </a:rPr>
              <a:t>Document Processing:</a:t>
            </a:r>
            <a: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100" dirty="0" err="1">
                <a:latin typeface="Arial" panose="020B0604020202020204" pitchFamily="34" charset="0"/>
                <a:cs typeface="Arial" panose="020B0604020202020204" pitchFamily="34" charset="0"/>
              </a:rPr>
              <a:t>PyMuPDF</a:t>
            </a:r>
            <a: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  <a:t> · Chunking · Metadata Extraction</a:t>
            </a:r>
          </a:p>
          <a:p>
            <a:b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1100" b="1" dirty="0">
                <a:latin typeface="Arial" panose="020B0604020202020204" pitchFamily="34" charset="0"/>
                <a:cs typeface="Arial" panose="020B0604020202020204" pitchFamily="34" charset="0"/>
              </a:rPr>
              <a:t>Core AI Tools:</a:t>
            </a:r>
            <a:r>
              <a:rPr lang="en-IN" sz="1100" dirty="0">
                <a:latin typeface="Arial" panose="020B0604020202020204" pitchFamily="34" charset="0"/>
                <a:cs typeface="Arial" panose="020B0604020202020204" pitchFamily="34" charset="0"/>
              </a:rPr>
              <a:t> Financial Calculator · Comparison Engine · Evidence Verifier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03201" y="194966"/>
            <a:ext cx="8724052" cy="238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6400"/>
              </a:lnSpc>
              <a:buNone/>
            </a:pPr>
            <a:r>
              <a:rPr b="1" dirty="0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 ARCHITECTURE: EVIDENCE-FIRST LOAN DECISION WORKFLOW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571501" y="1588591"/>
            <a:ext cx="1810728" cy="14597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2484909" y="1588591"/>
            <a:ext cx="2057725" cy="14597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649578" y="1588591"/>
            <a:ext cx="1728432" cy="14597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6479270" y="1588591"/>
            <a:ext cx="2057725" cy="1431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0" name="Picture 39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5465" y="578923"/>
            <a:ext cx="7751600" cy="45059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8286750" cy="290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9600"/>
              </a:lnSpc>
              <a:buNone/>
            </a:pPr>
            <a:r>
              <a:rPr sz="2100" b="1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TRUST IS A PRODUCT FEATURE, NOT A DISCLAIMER</a:t>
            </a: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614363" y="932650"/>
            <a:ext cx="4434818" cy="153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Every answer carries an evidence status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14363" y="1150534"/>
            <a:ext cx="4434818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The interface separates what the document says from what the system infers or cannot verify.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28650" y="1939919"/>
            <a:ext cx="1115430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4208618" y="1597019"/>
            <a:ext cx="14288" cy="3571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3396630" y="1939919"/>
            <a:ext cx="826275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3396630" y="1597019"/>
            <a:ext cx="826275" cy="260456"/>
          </a:xfrm>
          <a:prstGeom prst="rect">
            <a:avLst/>
          </a:prstGeom>
          <a:noFill/>
          <a:ln/>
        </p:spPr>
        <p:txBody>
          <a:bodyPr wrap="square" lIns="68072" tIns="85090" rIns="68072" bIns="85090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4222905" y="1597019"/>
            <a:ext cx="826275" cy="3571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034893" y="1597019"/>
            <a:ext cx="14288" cy="3571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4222905" y="1939919"/>
            <a:ext cx="826275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4222905" y="1597019"/>
            <a:ext cx="826275" cy="260456"/>
          </a:xfrm>
          <a:prstGeom prst="rect">
            <a:avLst/>
          </a:prstGeom>
          <a:noFill/>
          <a:ln/>
        </p:spPr>
        <p:txBody>
          <a:bodyPr wrap="square" lIns="68072" tIns="85090" rIns="68072" bIns="85090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628650" y="2297106"/>
            <a:ext cx="1115430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4208618" y="1954206"/>
            <a:ext cx="14288" cy="3571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Shape 38"/>
          <p:cNvSpPr/>
          <p:nvPr/>
        </p:nvSpPr>
        <p:spPr>
          <a:xfrm>
            <a:off x="3396630" y="2297106"/>
            <a:ext cx="826275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396630" y="1954206"/>
            <a:ext cx="826275" cy="267894"/>
          </a:xfrm>
          <a:prstGeom prst="rect">
            <a:avLst/>
          </a:prstGeom>
          <a:noFill/>
          <a:ln/>
        </p:spPr>
        <p:txBody>
          <a:bodyPr wrap="square" lIns="68072" tIns="85090" rIns="68072" bIns="85090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5034893" y="1954206"/>
            <a:ext cx="14288" cy="3571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4222905" y="2297106"/>
            <a:ext cx="826275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4222905" y="1954206"/>
            <a:ext cx="826275" cy="267894"/>
          </a:xfrm>
          <a:prstGeom prst="rect">
            <a:avLst/>
          </a:prstGeom>
          <a:noFill/>
          <a:ln/>
        </p:spPr>
        <p:txBody>
          <a:bodyPr wrap="square" lIns="68072" tIns="85090" rIns="68072" bIns="85090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28650" y="2654294"/>
            <a:ext cx="1115430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28650" y="2311394"/>
            <a:ext cx="1115430" cy="267894"/>
          </a:xfrm>
          <a:prstGeom prst="rect">
            <a:avLst/>
          </a:prstGeom>
          <a:noFill/>
          <a:ln/>
        </p:spPr>
        <p:txBody>
          <a:bodyPr wrap="square" lIns="68072" tIns="85090" rIns="68072" bIns="8509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Shape 57"/>
          <p:cNvSpPr/>
          <p:nvPr/>
        </p:nvSpPr>
        <p:spPr>
          <a:xfrm>
            <a:off x="4208618" y="2311394"/>
            <a:ext cx="14288" cy="3571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3396630" y="2654294"/>
            <a:ext cx="826275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3396630" y="2311394"/>
            <a:ext cx="826275" cy="267894"/>
          </a:xfrm>
          <a:prstGeom prst="rect">
            <a:avLst/>
          </a:prstGeom>
          <a:noFill/>
          <a:ln/>
        </p:spPr>
        <p:txBody>
          <a:bodyPr wrap="square" lIns="68072" tIns="85090" rIns="68072" bIns="85090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5034893" y="2311394"/>
            <a:ext cx="14288" cy="3571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4222905" y="2654294"/>
            <a:ext cx="826275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4222905" y="2311394"/>
            <a:ext cx="826275" cy="267894"/>
          </a:xfrm>
          <a:prstGeom prst="rect">
            <a:avLst/>
          </a:prstGeom>
          <a:noFill/>
          <a:ln/>
        </p:spPr>
        <p:txBody>
          <a:bodyPr wrap="square" lIns="68072" tIns="85090" rIns="68072" bIns="85090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Shape 66"/>
          <p:cNvSpPr/>
          <p:nvPr/>
        </p:nvSpPr>
        <p:spPr>
          <a:xfrm>
            <a:off x="628650" y="3011481"/>
            <a:ext cx="1115430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628650" y="2668581"/>
            <a:ext cx="1115430" cy="267894"/>
          </a:xfrm>
          <a:prstGeom prst="rect">
            <a:avLst/>
          </a:prstGeom>
          <a:noFill/>
          <a:ln/>
        </p:spPr>
        <p:txBody>
          <a:bodyPr wrap="square" lIns="68072" tIns="85090" rIns="68072" bIns="8509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Shape 77"/>
          <p:cNvSpPr/>
          <p:nvPr/>
        </p:nvSpPr>
        <p:spPr>
          <a:xfrm>
            <a:off x="4208618" y="2668581"/>
            <a:ext cx="14288" cy="3571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Shape 78"/>
          <p:cNvSpPr/>
          <p:nvPr/>
        </p:nvSpPr>
        <p:spPr>
          <a:xfrm>
            <a:off x="3396630" y="3011481"/>
            <a:ext cx="826275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Text 79"/>
          <p:cNvSpPr/>
          <p:nvPr/>
        </p:nvSpPr>
        <p:spPr>
          <a:xfrm>
            <a:off x="3396630" y="2668581"/>
            <a:ext cx="826275" cy="267894"/>
          </a:xfrm>
          <a:prstGeom prst="rect">
            <a:avLst/>
          </a:prstGeom>
          <a:noFill/>
          <a:ln/>
        </p:spPr>
        <p:txBody>
          <a:bodyPr wrap="square" lIns="68072" tIns="85090" rIns="68072" bIns="85090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Shape 81"/>
          <p:cNvSpPr/>
          <p:nvPr/>
        </p:nvSpPr>
        <p:spPr>
          <a:xfrm>
            <a:off x="5034893" y="2668581"/>
            <a:ext cx="14288" cy="3571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Shape 82"/>
          <p:cNvSpPr/>
          <p:nvPr/>
        </p:nvSpPr>
        <p:spPr>
          <a:xfrm>
            <a:off x="4222905" y="3011481"/>
            <a:ext cx="826275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6" name="Text 83"/>
          <p:cNvSpPr/>
          <p:nvPr/>
        </p:nvSpPr>
        <p:spPr>
          <a:xfrm>
            <a:off x="4222905" y="2668581"/>
            <a:ext cx="826275" cy="267894"/>
          </a:xfrm>
          <a:prstGeom prst="rect">
            <a:avLst/>
          </a:prstGeom>
          <a:noFill/>
          <a:ln/>
        </p:spPr>
        <p:txBody>
          <a:bodyPr wrap="square" lIns="68072" tIns="85090" rIns="68072" bIns="85090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Shape 86"/>
          <p:cNvSpPr/>
          <p:nvPr/>
        </p:nvSpPr>
        <p:spPr>
          <a:xfrm>
            <a:off x="628650" y="3391440"/>
            <a:ext cx="1115430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Shape 97"/>
          <p:cNvSpPr/>
          <p:nvPr/>
        </p:nvSpPr>
        <p:spPr>
          <a:xfrm>
            <a:off x="4208618" y="3025769"/>
            <a:ext cx="14288" cy="36567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Shape 98"/>
          <p:cNvSpPr/>
          <p:nvPr/>
        </p:nvSpPr>
        <p:spPr>
          <a:xfrm>
            <a:off x="3396630" y="3377152"/>
            <a:ext cx="826275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Text 99"/>
          <p:cNvSpPr/>
          <p:nvPr/>
        </p:nvSpPr>
        <p:spPr>
          <a:xfrm>
            <a:off x="3396630" y="3025769"/>
            <a:ext cx="826275" cy="267894"/>
          </a:xfrm>
          <a:prstGeom prst="rect">
            <a:avLst/>
          </a:prstGeom>
          <a:noFill/>
          <a:ln/>
        </p:spPr>
        <p:txBody>
          <a:bodyPr wrap="square" lIns="68072" tIns="85090" rIns="68072" bIns="85090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Shape 101"/>
          <p:cNvSpPr/>
          <p:nvPr/>
        </p:nvSpPr>
        <p:spPr>
          <a:xfrm>
            <a:off x="5034893" y="3025769"/>
            <a:ext cx="14288" cy="36567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Shape 102"/>
          <p:cNvSpPr/>
          <p:nvPr/>
        </p:nvSpPr>
        <p:spPr>
          <a:xfrm>
            <a:off x="4222905" y="3377152"/>
            <a:ext cx="826275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Text 103"/>
          <p:cNvSpPr/>
          <p:nvPr/>
        </p:nvSpPr>
        <p:spPr>
          <a:xfrm>
            <a:off x="4222905" y="3025769"/>
            <a:ext cx="826275" cy="267894"/>
          </a:xfrm>
          <a:prstGeom prst="rect">
            <a:avLst/>
          </a:prstGeom>
          <a:noFill/>
          <a:ln/>
        </p:spPr>
        <p:txBody>
          <a:bodyPr wrap="square" lIns="68072" tIns="85090" rIns="68072" bIns="85090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Text 104"/>
          <p:cNvSpPr/>
          <p:nvPr/>
        </p:nvSpPr>
        <p:spPr>
          <a:xfrm>
            <a:off x="614363" y="3477165"/>
            <a:ext cx="2420534" cy="89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600" dirty="0">
                <a:solidFill>
                  <a:srgbClr val="777777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Evidence status is part of the answer format, not a post-hoc disclaimer.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Text 105"/>
          <p:cNvSpPr/>
          <p:nvPr/>
        </p:nvSpPr>
        <p:spPr>
          <a:xfrm>
            <a:off x="5520668" y="775488"/>
            <a:ext cx="3480402" cy="3402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 fluent answer is not enough. The user must be able to inspect the claim.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Text 106"/>
          <p:cNvSpPr/>
          <p:nvPr/>
        </p:nvSpPr>
        <p:spPr>
          <a:xfrm>
            <a:off x="5520668" y="1419765"/>
            <a:ext cx="3480402" cy="10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MISSING-INFORMATION EXAMPLE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0" name="Text 107"/>
          <p:cNvSpPr/>
          <p:nvPr/>
        </p:nvSpPr>
        <p:spPr>
          <a:xfrm>
            <a:off x="5520668" y="1580499"/>
            <a:ext cx="1982915" cy="1268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Question: Is the fee waived for students?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1" name="Text 108"/>
          <p:cNvSpPr/>
          <p:nvPr/>
        </p:nvSpPr>
        <p:spPr>
          <a:xfrm>
            <a:off x="5520668" y="1786217"/>
            <a:ext cx="1009892" cy="1699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Not specified.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2" name="Text 109"/>
          <p:cNvSpPr/>
          <p:nvPr/>
        </p:nvSpPr>
        <p:spPr>
          <a:xfrm>
            <a:off x="5520668" y="2026202"/>
            <a:ext cx="2542363" cy="1119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50" dirty="0">
                <a:solidFill>
                  <a:srgbClr val="888888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No supporting clause found. Verify the current official terms.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Text 110"/>
          <p:cNvSpPr/>
          <p:nvPr/>
        </p:nvSpPr>
        <p:spPr>
          <a:xfrm>
            <a:off x="5520668" y="2491941"/>
            <a:ext cx="3480402" cy="10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CONFLICT-DETECTION EXAMPLE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" name="Text 111"/>
          <p:cNvSpPr/>
          <p:nvPr/>
        </p:nvSpPr>
        <p:spPr>
          <a:xfrm>
            <a:off x="5520668" y="2652675"/>
            <a:ext cx="2184893" cy="1268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2025 terms: fee = 3% · 2026 terms: fee = 1%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5" name="Text 112"/>
          <p:cNvSpPr/>
          <p:nvPr/>
        </p:nvSpPr>
        <p:spPr>
          <a:xfrm>
            <a:off x="5520668" y="2858393"/>
            <a:ext cx="1292020" cy="1699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Conflict detected.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6" name="Text 113"/>
          <p:cNvSpPr/>
          <p:nvPr/>
        </p:nvSpPr>
        <p:spPr>
          <a:xfrm>
            <a:off x="5520668" y="3098378"/>
            <a:ext cx="2616101" cy="1119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50" dirty="0">
                <a:solidFill>
                  <a:srgbClr val="888888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Show both clauses, their dates, and which document is latest.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Text 114"/>
          <p:cNvSpPr/>
          <p:nvPr/>
        </p:nvSpPr>
        <p:spPr>
          <a:xfrm>
            <a:off x="5520668" y="3442674"/>
            <a:ext cx="3480402" cy="533608"/>
          </a:xfrm>
          <a:prstGeom prst="rect">
            <a:avLst/>
          </a:prstGeom>
          <a:noFill/>
          <a:ln/>
        </p:spPr>
        <p:txBody>
          <a:bodyPr wrap="square" lIns="0" tIns="119126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FinExplain explains what the document says, what it means, what is unclear, and what to verify. It does not provide personalized financial advice.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3632452-6E07-C59B-6700-34036F36A926}"/>
              </a:ext>
            </a:extLst>
          </p:cNvPr>
          <p:cNvSpPr txBox="1"/>
          <p:nvPr/>
        </p:nvSpPr>
        <p:spPr>
          <a:xfrm>
            <a:off x="515291" y="3628907"/>
            <a:ext cx="46329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900" b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Every important answer has three parts:</a:t>
            </a:r>
          </a:p>
          <a:p>
            <a:pPr>
              <a:buNone/>
            </a:pPr>
            <a:r>
              <a:rPr lang="en-US" sz="900" b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ANSWER → EVIDENCE → STATUS</a:t>
            </a:r>
            <a:endParaRPr lang="en-US" sz="9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3" name="Picture 122">
            <a:extLst>
              <a:ext uri="{FF2B5EF4-FFF2-40B4-BE49-F238E27FC236}">
                <a16:creationId xmlns:a16="http://schemas.microsoft.com/office/drawing/2014/main" id="{5980B2D6-FFCD-A7FC-B40A-38E10B0F20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658" y="696202"/>
            <a:ext cx="5030062" cy="40615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51357" y="139717"/>
            <a:ext cx="8286750" cy="3231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sz="2100" b="1" dirty="0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KILLER EXAMPLE: WHICH LOAN IS ACTUALLY CHEAPER?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351357" y="457200"/>
            <a:ext cx="5446556" cy="2573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9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 higher APR can still be the lower-cost choice</a:t>
            </a: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428625" y="1091543"/>
            <a:ext cx="4725256" cy="3979013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585788" y="1420155"/>
            <a:ext cx="4410931" cy="3247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“I need a $20,000 loan and expect to repay it in six months. Which product is cheaper?”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585788" y="1936083"/>
            <a:ext cx="1411449" cy="237501"/>
          </a:xfrm>
          <a:prstGeom prst="rect">
            <a:avLst/>
          </a:prstGeom>
          <a:noFill/>
          <a:ln/>
        </p:spPr>
        <p:txBody>
          <a:bodyPr wrap="square" lIns="59563" tIns="68072" rIns="59563" bIns="68072" rtlCol="0" anchor="ctr">
            <a:sp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Field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997236" y="1936083"/>
            <a:ext cx="519438" cy="237501"/>
          </a:xfrm>
          <a:prstGeom prst="rect">
            <a:avLst/>
          </a:prstGeom>
          <a:noFill/>
          <a:ln/>
        </p:spPr>
        <p:txBody>
          <a:bodyPr wrap="none" lIns="59563" tIns="68072" rIns="59563" bIns="68072" rtlCol="0" anchor="ctr">
            <a:sp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Product A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188177" y="1936083"/>
            <a:ext cx="519438" cy="237501"/>
          </a:xfrm>
          <a:prstGeom prst="rect">
            <a:avLst/>
          </a:prstGeom>
          <a:noFill/>
          <a:ln/>
        </p:spPr>
        <p:txBody>
          <a:bodyPr wrap="none" lIns="59563" tIns="68072" rIns="59563" bIns="68072" rtlCol="0" anchor="ctr">
            <a:sp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Product B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379119" y="1936083"/>
            <a:ext cx="375167" cy="237501"/>
          </a:xfrm>
          <a:prstGeom prst="rect">
            <a:avLst/>
          </a:prstGeom>
          <a:noFill/>
          <a:ln/>
        </p:spPr>
        <p:txBody>
          <a:bodyPr wrap="none" lIns="59563" tIns="68072" rIns="59563" bIns="68072" rtlCol="0" anchor="ctr">
            <a:sp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Status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85788" y="2170919"/>
            <a:ext cx="1411449" cy="279564"/>
          </a:xfrm>
          <a:prstGeom prst="rect">
            <a:avLst/>
          </a:prstGeom>
          <a:noFill/>
          <a:ln/>
        </p:spPr>
        <p:txBody>
          <a:bodyPr wrap="squar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Headline APR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997236" y="2170919"/>
            <a:ext cx="375167" cy="279564"/>
          </a:xfrm>
          <a:prstGeom prst="rect">
            <a:avLst/>
          </a:prstGeom>
          <a:noFill/>
          <a:ln/>
        </p:spPr>
        <p:txBody>
          <a:bodyPr wrap="non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10.5%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3188177" y="2170919"/>
            <a:ext cx="391197" cy="287258"/>
          </a:xfrm>
          <a:prstGeom prst="rect">
            <a:avLst/>
          </a:prstGeom>
          <a:noFill/>
          <a:ln/>
        </p:spPr>
        <p:txBody>
          <a:bodyPr wrap="non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11.2%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4379119" y="2170919"/>
            <a:ext cx="365549" cy="264175"/>
          </a:xfrm>
          <a:prstGeom prst="rect">
            <a:avLst/>
          </a:prstGeom>
          <a:noFill/>
          <a:ln/>
        </p:spPr>
        <p:txBody>
          <a:bodyPr wrap="non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6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Explicit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585788" y="2438809"/>
            <a:ext cx="1411449" cy="279564"/>
          </a:xfrm>
          <a:prstGeom prst="rect">
            <a:avLst/>
          </a:prstGeom>
          <a:noFill/>
          <a:ln/>
        </p:spPr>
        <p:txBody>
          <a:bodyPr wrap="squar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Processing fee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997236" y="2438809"/>
            <a:ext cx="1136593" cy="287258"/>
          </a:xfrm>
          <a:prstGeom prst="rect">
            <a:avLst/>
          </a:prstGeom>
          <a:noFill/>
          <a:ln/>
        </p:spPr>
        <p:txBody>
          <a:bodyPr wrap="non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2% of approved amount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3188177" y="2438809"/>
            <a:ext cx="920188" cy="279564"/>
          </a:xfrm>
          <a:prstGeom prst="rect">
            <a:avLst/>
          </a:prstGeom>
          <a:noFill/>
          <a:ln/>
        </p:spPr>
        <p:txBody>
          <a:bodyPr wrap="non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Fixed fee of €2,000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4379119" y="2438809"/>
            <a:ext cx="365549" cy="264175"/>
          </a:xfrm>
          <a:prstGeom prst="rect">
            <a:avLst/>
          </a:prstGeom>
          <a:noFill/>
          <a:ln/>
        </p:spPr>
        <p:txBody>
          <a:bodyPr wrap="non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6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Explicit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585788" y="2703128"/>
            <a:ext cx="1411449" cy="279564"/>
          </a:xfrm>
          <a:prstGeom prst="rect">
            <a:avLst/>
          </a:prstGeom>
          <a:noFill/>
          <a:ln/>
        </p:spPr>
        <p:txBody>
          <a:bodyPr wrap="squar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Early repayment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997236" y="2703128"/>
            <a:ext cx="998735" cy="402674"/>
          </a:xfrm>
          <a:prstGeom prst="rect">
            <a:avLst/>
          </a:prstGeom>
          <a:noFill/>
          <a:ln/>
        </p:spPr>
        <p:txBody>
          <a:bodyPr wrap="non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Charge may apply</a:t>
            </a:r>
          </a:p>
          <a:p>
            <a:pPr marL="0" indent="0" algn="l">
              <a:buNone/>
            </a:pPr>
            <a:r>
              <a:rPr lang="en-US" sz="750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before stated period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188177" y="2703128"/>
            <a:ext cx="1205523" cy="279564"/>
          </a:xfrm>
          <a:prstGeom prst="rect">
            <a:avLst/>
          </a:prstGeom>
          <a:noFill/>
          <a:ln/>
        </p:spPr>
        <p:txBody>
          <a:bodyPr wrap="non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No fee after stated period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4379119" y="2703128"/>
            <a:ext cx="509820" cy="264175"/>
          </a:xfrm>
          <a:prstGeom prst="rect">
            <a:avLst/>
          </a:prstGeom>
          <a:noFill/>
          <a:ln/>
        </p:spPr>
        <p:txBody>
          <a:bodyPr wrap="non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6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Conditional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85788" y="3081747"/>
            <a:ext cx="1411449" cy="279564"/>
          </a:xfrm>
          <a:prstGeom prst="rect">
            <a:avLst/>
          </a:prstGeom>
          <a:noFill/>
          <a:ln/>
        </p:spPr>
        <p:txBody>
          <a:bodyPr wrap="squar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Late-payment charge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997236" y="3081747"/>
            <a:ext cx="1040413" cy="287258"/>
          </a:xfrm>
          <a:prstGeom prst="rect">
            <a:avLst/>
          </a:prstGeom>
          <a:noFill/>
          <a:ln/>
        </p:spPr>
        <p:txBody>
          <a:bodyPr wrap="non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Specified in Section 8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3188177" y="3081747"/>
            <a:ext cx="860877" cy="287258"/>
          </a:xfrm>
          <a:prstGeom prst="rect">
            <a:avLst/>
          </a:prstGeom>
          <a:noFill/>
          <a:ln/>
        </p:spPr>
        <p:txBody>
          <a:bodyPr wrap="non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Not clearly stated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4379119" y="3081747"/>
            <a:ext cx="327077" cy="264175"/>
          </a:xfrm>
          <a:prstGeom prst="rect">
            <a:avLst/>
          </a:prstGeom>
          <a:noFill/>
          <a:ln/>
        </p:spPr>
        <p:txBody>
          <a:bodyPr wrap="non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6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Mixed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85788" y="3346066"/>
            <a:ext cx="1411449" cy="279564"/>
          </a:xfrm>
          <a:prstGeom prst="rect">
            <a:avLst/>
          </a:prstGeom>
          <a:noFill/>
          <a:ln/>
        </p:spPr>
        <p:txBody>
          <a:bodyPr wrap="squar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Initial signal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1997236" y="3346066"/>
            <a:ext cx="572336" cy="287258"/>
          </a:xfrm>
          <a:prstGeom prst="rect">
            <a:avLst/>
          </a:prstGeom>
          <a:noFill/>
          <a:ln/>
        </p:spPr>
        <p:txBody>
          <a:bodyPr wrap="non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Lower rate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3188177" y="3346066"/>
            <a:ext cx="593176" cy="287258"/>
          </a:xfrm>
          <a:prstGeom prst="rect">
            <a:avLst/>
          </a:prstGeom>
          <a:noFill/>
          <a:ln/>
        </p:spPr>
        <p:txBody>
          <a:bodyPr wrap="non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Higher rate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4379119" y="3346066"/>
            <a:ext cx="498598" cy="264175"/>
          </a:xfrm>
          <a:prstGeom prst="rect">
            <a:avLst/>
          </a:prstGeom>
          <a:noFill/>
          <a:ln/>
        </p:spPr>
        <p:txBody>
          <a:bodyPr wrap="none" lIns="59563" tIns="85090" rIns="59563" bIns="85090" rtlCol="0" anchor="t">
            <a:spAutoFit/>
          </a:bodyPr>
          <a:lstStyle/>
          <a:p>
            <a:pPr marL="0" indent="0" algn="l">
              <a:buNone/>
            </a:pPr>
            <a:r>
              <a:rPr lang="en-US" sz="6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Incomplete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585788" y="3849700"/>
            <a:ext cx="351058" cy="1000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Principal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585788" y="3997933"/>
            <a:ext cx="280526" cy="923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$20,000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1476524" y="3849700"/>
            <a:ext cx="343043" cy="1000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Duration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1476524" y="3997933"/>
            <a:ext cx="317395" cy="923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6 months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2367260" y="3849700"/>
            <a:ext cx="299762" cy="1000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Interest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2367260" y="3997933"/>
            <a:ext cx="288541" cy="923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Retrieve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3258052" y="3849700"/>
            <a:ext cx="190758" cy="1000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Fees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3258052" y="3997933"/>
            <a:ext cx="288541" cy="923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Retrieve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4148789" y="3849700"/>
            <a:ext cx="365485" cy="1000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Penalties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4148789" y="3997933"/>
            <a:ext cx="455253" cy="923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Scenario-test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585788" y="4187242"/>
            <a:ext cx="4410931" cy="923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i="1" dirty="0">
                <a:solidFill>
                  <a:srgbClr val="888888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The final answer should expose the inputs and calculation path; it should not let the LLM invent a total.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5439631" y="1105830"/>
            <a:ext cx="3275744" cy="10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01 · RETRIEVE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5439631" y="1252277"/>
            <a:ext cx="3275744" cy="146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Find the cost drivers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5439631" y="1448730"/>
            <a:ext cx="3275744" cy="256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Retrieve APR, duration, processing fee, early-repayment fee, late fee, and any reductions from the source clauses.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 44"/>
          <p:cNvSpPr/>
          <p:nvPr/>
        </p:nvSpPr>
        <p:spPr>
          <a:xfrm>
            <a:off x="5439631" y="1945221"/>
            <a:ext cx="3275744" cy="10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02 · CALCULATE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5439631" y="2091668"/>
            <a:ext cx="3275744" cy="146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Compute outside the LLM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5439631" y="2302408"/>
            <a:ext cx="3275744" cy="209032"/>
          </a:xfrm>
          <a:prstGeom prst="rect">
            <a:avLst/>
          </a:prstGeom>
          <a:noFill/>
          <a:ln/>
        </p:spPr>
        <p:txBody>
          <a:bodyPr wrap="square" lIns="0" tIns="8509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Total cost = </a:t>
            </a:r>
            <a:r>
              <a:rPr lang="en-US" sz="8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principal + interest + fees + penalties − reductions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5439631" y="2695315"/>
            <a:ext cx="3275744" cy="2400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The calculation engine uses structured inputs and the borrower’s six-month scenario.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 48"/>
          <p:cNvSpPr/>
          <p:nvPr/>
        </p:nvSpPr>
        <p:spPr>
          <a:xfrm>
            <a:off x="5439631" y="3172495"/>
            <a:ext cx="3275744" cy="10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03 · EXPLAIN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5439631" y="3318942"/>
            <a:ext cx="3275744" cy="146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Return a qualified conclusion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5439631" y="3515395"/>
            <a:ext cx="3275744" cy="256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“Product B may have lower total cost under this repayment scenario.” Show the exact evidence behind the claim.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Text 51"/>
          <p:cNvSpPr/>
          <p:nvPr/>
        </p:nvSpPr>
        <p:spPr>
          <a:xfrm>
            <a:off x="5439631" y="4011885"/>
            <a:ext cx="3275744" cy="10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04 · FLAG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5439631" y="4158332"/>
            <a:ext cx="3275744" cy="146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No silent guessing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5439631" y="4354785"/>
            <a:ext cx="1064394" cy="162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“Not specified.”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Text 54"/>
          <p:cNvSpPr/>
          <p:nvPr/>
        </p:nvSpPr>
        <p:spPr>
          <a:xfrm>
            <a:off x="5439631" y="4586232"/>
            <a:ext cx="3275744" cy="2400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If a fee waiver or condition is absent, identify the gap and tell the user what to verify.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260100D-4865-80DC-41DB-33965BD4BAE8}"/>
              </a:ext>
            </a:extLst>
          </p:cNvPr>
          <p:cNvSpPr txBox="1"/>
          <p:nvPr/>
        </p:nvSpPr>
        <p:spPr>
          <a:xfrm>
            <a:off x="306706" y="662232"/>
            <a:ext cx="45720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scenario-based comparison reveals what the headline rate hides.</a:t>
            </a:r>
            <a:endParaRPr lang="en-IN" sz="7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12D0370-8B60-9140-EF7A-4757BE51075D}"/>
              </a:ext>
            </a:extLst>
          </p:cNvPr>
          <p:cNvCxnSpPr>
            <a:cxnSpLocks/>
          </p:cNvCxnSpPr>
          <p:nvPr/>
        </p:nvCxnSpPr>
        <p:spPr>
          <a:xfrm>
            <a:off x="1691640" y="1938747"/>
            <a:ext cx="0" cy="1671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5D98CF4-3D07-9B7A-246A-D6E750C4859E}"/>
              </a:ext>
            </a:extLst>
          </p:cNvPr>
          <p:cNvCxnSpPr>
            <a:cxnSpLocks/>
          </p:cNvCxnSpPr>
          <p:nvPr/>
        </p:nvCxnSpPr>
        <p:spPr>
          <a:xfrm>
            <a:off x="3131820" y="1938747"/>
            <a:ext cx="0" cy="1671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B677CD5-9DD1-4219-2E9E-ED6D9DDD06EE}"/>
              </a:ext>
            </a:extLst>
          </p:cNvPr>
          <p:cNvCxnSpPr>
            <a:cxnSpLocks/>
          </p:cNvCxnSpPr>
          <p:nvPr/>
        </p:nvCxnSpPr>
        <p:spPr>
          <a:xfrm>
            <a:off x="4379119" y="1938747"/>
            <a:ext cx="0" cy="1671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7149CCC-270C-78E5-2AA7-0EBBEEFA0FD6}"/>
              </a:ext>
            </a:extLst>
          </p:cNvPr>
          <p:cNvCxnSpPr>
            <a:cxnSpLocks/>
          </p:cNvCxnSpPr>
          <p:nvPr/>
        </p:nvCxnSpPr>
        <p:spPr>
          <a:xfrm>
            <a:off x="585788" y="1938747"/>
            <a:ext cx="0" cy="1671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87A862C-F95D-8B5E-2F77-4AD2AA7F6CCE}"/>
              </a:ext>
            </a:extLst>
          </p:cNvPr>
          <p:cNvCxnSpPr>
            <a:cxnSpLocks/>
          </p:cNvCxnSpPr>
          <p:nvPr/>
        </p:nvCxnSpPr>
        <p:spPr>
          <a:xfrm>
            <a:off x="5153881" y="1945221"/>
            <a:ext cx="0" cy="1671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E9ECFD6-235D-5BE3-674A-A9ED8CF55E0E}"/>
              </a:ext>
            </a:extLst>
          </p:cNvPr>
          <p:cNvCxnSpPr>
            <a:cxnSpLocks/>
          </p:cNvCxnSpPr>
          <p:nvPr/>
        </p:nvCxnSpPr>
        <p:spPr>
          <a:xfrm flipH="1">
            <a:off x="585788" y="1945221"/>
            <a:ext cx="456809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38BCBFE3-FEF1-FE4A-1651-796C45D31441}"/>
              </a:ext>
            </a:extLst>
          </p:cNvPr>
          <p:cNvCxnSpPr>
            <a:cxnSpLocks/>
          </p:cNvCxnSpPr>
          <p:nvPr/>
        </p:nvCxnSpPr>
        <p:spPr>
          <a:xfrm flipH="1">
            <a:off x="585788" y="3612506"/>
            <a:ext cx="456809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F35AF7B-16D9-2591-4D25-E2DE82161D1B}"/>
              </a:ext>
            </a:extLst>
          </p:cNvPr>
          <p:cNvCxnSpPr>
            <a:cxnSpLocks/>
          </p:cNvCxnSpPr>
          <p:nvPr/>
        </p:nvCxnSpPr>
        <p:spPr>
          <a:xfrm flipH="1">
            <a:off x="585788" y="2188280"/>
            <a:ext cx="456809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3C934AD-C080-4630-AF00-F2F1EF375E8B}"/>
              </a:ext>
            </a:extLst>
          </p:cNvPr>
          <p:cNvCxnSpPr>
            <a:cxnSpLocks/>
          </p:cNvCxnSpPr>
          <p:nvPr/>
        </p:nvCxnSpPr>
        <p:spPr>
          <a:xfrm flipH="1">
            <a:off x="585788" y="3343923"/>
            <a:ext cx="456809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E81E2BAC-86C6-CBA9-F51F-B8A964183BE0}"/>
              </a:ext>
            </a:extLst>
          </p:cNvPr>
          <p:cNvCxnSpPr>
            <a:cxnSpLocks/>
          </p:cNvCxnSpPr>
          <p:nvPr/>
        </p:nvCxnSpPr>
        <p:spPr>
          <a:xfrm flipH="1">
            <a:off x="585788" y="3081747"/>
            <a:ext cx="456809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51BC05F-98A5-ADB2-C106-8ABCCB302903}"/>
              </a:ext>
            </a:extLst>
          </p:cNvPr>
          <p:cNvCxnSpPr>
            <a:cxnSpLocks/>
          </p:cNvCxnSpPr>
          <p:nvPr/>
        </p:nvCxnSpPr>
        <p:spPr>
          <a:xfrm flipH="1">
            <a:off x="585788" y="2703128"/>
            <a:ext cx="456809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C49992C-1A88-B3AC-8693-422893BA8F4A}"/>
              </a:ext>
            </a:extLst>
          </p:cNvPr>
          <p:cNvCxnSpPr>
            <a:cxnSpLocks/>
          </p:cNvCxnSpPr>
          <p:nvPr/>
        </p:nvCxnSpPr>
        <p:spPr>
          <a:xfrm flipH="1">
            <a:off x="585788" y="2438810"/>
            <a:ext cx="456809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428625" y="4357116"/>
            <a:ext cx="4800600" cy="658368"/>
          </a:xfrm>
          <a:prstGeom prst="roundRect">
            <a:avLst/>
          </a:prstGeom>
          <a:solidFill>
            <a:srgbClr val="FFF3E8"/>
          </a:solidFill>
          <a:ln w="12700">
            <a:solidFill>
              <a:srgbClr val="F47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57225" y="4521708"/>
            <a:ext cx="10515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DECISION OUTPUT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00224" y="4430268"/>
            <a:ext cx="3154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1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Qualified conclusion + calculation inputs + exact evidence + any missing information</a:t>
            </a:r>
          </a:p>
        </p:txBody>
      </p:sp>
      <p:sp>
        <p:nvSpPr>
          <p:cNvPr id="5" name="Text 2"/>
          <p:cNvSpPr/>
          <p:nvPr/>
        </p:nvSpPr>
        <p:spPr>
          <a:xfrm>
            <a:off x="585788" y="1145373"/>
            <a:ext cx="4143374" cy="146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FinExplain makes the decision traceable for a borrower not just fluent.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175022"/>
            <a:ext cx="8286750" cy="3231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sz="2100" b="1" dirty="0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UNIQUENESS + COMPETITIVE ADVANTAGE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428625" y="464344"/>
            <a:ext cx="5937523" cy="2382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864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Why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FinExplain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is more than a financial document chatbot</a:t>
            </a:r>
          </a:p>
        </p:txBody>
      </p:sp>
      <p:sp>
        <p:nvSpPr>
          <p:cNvPr id="5" name="Text 2"/>
          <p:cNvSpPr/>
          <p:nvPr/>
        </p:nvSpPr>
        <p:spPr>
          <a:xfrm>
            <a:off x="428625" y="814667"/>
            <a:ext cx="4026743" cy="14619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FinExplain is a financial decision layer, not simply a document summarizer.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428625" y="1131112"/>
            <a:ext cx="4725256" cy="390807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585788" y="1273987"/>
            <a:ext cx="4410931" cy="161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Capability comparison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00075" y="1574025"/>
            <a:ext cx="1884276" cy="250031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470063" y="1574025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600075" y="1809769"/>
            <a:ext cx="1884276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00075" y="1574025"/>
            <a:ext cx="1884276" cy="233525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Capability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2484351" y="1574025"/>
            <a:ext cx="1256184" cy="250031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3726247" y="1574025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2484351" y="1809769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2484351" y="1574025"/>
            <a:ext cx="1256184" cy="233525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Generic AI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740534" y="1574025"/>
            <a:ext cx="1256184" cy="250031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982431" y="1574025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3740534" y="1809769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3740534" y="1574025"/>
            <a:ext cx="1256184" cy="233525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FinExplain</a:t>
            </a:r>
            <a:endParaRPr lang="en-US" sz="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600075" y="1824056"/>
            <a:ext cx="1884276" cy="25003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2470063" y="1824056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600075" y="2059800"/>
            <a:ext cx="1884276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600075" y="1824056"/>
            <a:ext cx="1884276" cy="250031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PDF Q&amp;A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2484351" y="1824056"/>
            <a:ext cx="1256184" cy="25003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3726247" y="1824056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2484351" y="2059800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2484351" y="1824056"/>
            <a:ext cx="1256184" cy="255647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algn="ctr">
              <a:lnSpc>
                <a:spcPct val="96000"/>
              </a:lnSpc>
            </a:pPr>
            <a:r>
              <a:rPr lang="en-IN" sz="8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Available</a:t>
            </a:r>
            <a:endParaRPr lang="en-US" sz="75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740534" y="1824056"/>
            <a:ext cx="1256184" cy="250031"/>
          </a:xfrm>
          <a:prstGeom prst="rect">
            <a:avLst/>
          </a:prstGeom>
          <a:solidFill>
            <a:srgbClr val="FF8A6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4982431" y="1824056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3740534" y="2059800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3740534" y="1824056"/>
            <a:ext cx="1256184" cy="250031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Yes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600075" y="2074087"/>
            <a:ext cx="1884276" cy="25003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2470063" y="2074087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600075" y="2309831"/>
            <a:ext cx="1884276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600075" y="2074087"/>
            <a:ext cx="1884276" cy="250031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Summarization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2484351" y="2074087"/>
            <a:ext cx="1256184" cy="25003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726247" y="2074087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2484351" y="2309831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2484351" y="2074087"/>
            <a:ext cx="1256184" cy="240900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algn="ctr">
              <a:lnSpc>
                <a:spcPct val="96000"/>
              </a:lnSpc>
            </a:pPr>
            <a:r>
              <a:rPr lang="en-IN" sz="7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Available</a:t>
            </a:r>
            <a:endParaRPr lang="en-US" sz="7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3740534" y="2074087"/>
            <a:ext cx="1256184" cy="250031"/>
          </a:xfrm>
          <a:prstGeom prst="rect">
            <a:avLst/>
          </a:prstGeom>
          <a:solidFill>
            <a:srgbClr val="FF8A6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Shape 38"/>
          <p:cNvSpPr/>
          <p:nvPr/>
        </p:nvSpPr>
        <p:spPr>
          <a:xfrm>
            <a:off x="4982431" y="2074087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3740534" y="2309831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3740534" y="2074087"/>
            <a:ext cx="1256184" cy="250031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Yes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0075" y="2324119"/>
            <a:ext cx="1884276" cy="25003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2470063" y="2324119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Shape 43"/>
          <p:cNvSpPr/>
          <p:nvPr/>
        </p:nvSpPr>
        <p:spPr>
          <a:xfrm>
            <a:off x="600075" y="2559862"/>
            <a:ext cx="1884276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 44"/>
          <p:cNvSpPr/>
          <p:nvPr/>
        </p:nvSpPr>
        <p:spPr>
          <a:xfrm>
            <a:off x="600075" y="2324119"/>
            <a:ext cx="1884276" cy="250031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Structured cost comparison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Shape 45"/>
          <p:cNvSpPr/>
          <p:nvPr/>
        </p:nvSpPr>
        <p:spPr>
          <a:xfrm>
            <a:off x="2484351" y="2324119"/>
            <a:ext cx="1256184" cy="25003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3726247" y="2324119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2484351" y="2559862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 48"/>
          <p:cNvSpPr/>
          <p:nvPr/>
        </p:nvSpPr>
        <p:spPr>
          <a:xfrm>
            <a:off x="2484351" y="2324119"/>
            <a:ext cx="1256184" cy="226088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00" dirty="0">
                <a:solidFill>
                  <a:srgbClr val="88888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 Purpose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Shape 49"/>
          <p:cNvSpPr/>
          <p:nvPr/>
        </p:nvSpPr>
        <p:spPr>
          <a:xfrm>
            <a:off x="3740534" y="2324119"/>
            <a:ext cx="1256184" cy="250031"/>
          </a:xfrm>
          <a:prstGeom prst="rect">
            <a:avLst/>
          </a:prstGeom>
          <a:solidFill>
            <a:srgbClr val="FF8A6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4982431" y="2324119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3740534" y="2559862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3740534" y="2324119"/>
            <a:ext cx="1256184" cy="250031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Core flow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Shape 53"/>
          <p:cNvSpPr/>
          <p:nvPr/>
        </p:nvSpPr>
        <p:spPr>
          <a:xfrm>
            <a:off x="600075" y="2574150"/>
            <a:ext cx="1884276" cy="25003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2470063" y="2574150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0075" y="2809894"/>
            <a:ext cx="1884276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600075" y="2574150"/>
            <a:ext cx="1884276" cy="250031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Scenario testing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Shape 57"/>
          <p:cNvSpPr/>
          <p:nvPr/>
        </p:nvSpPr>
        <p:spPr>
          <a:xfrm>
            <a:off x="2484351" y="2574150"/>
            <a:ext cx="1256184" cy="25003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3726247" y="2574150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Shape 59"/>
          <p:cNvSpPr/>
          <p:nvPr/>
        </p:nvSpPr>
        <p:spPr>
          <a:xfrm>
            <a:off x="2484351" y="2809894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2484351" y="2574150"/>
            <a:ext cx="1256184" cy="226088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algn="ctr">
              <a:lnSpc>
                <a:spcPct val="96000"/>
              </a:lnSpc>
            </a:pPr>
            <a:r>
              <a:rPr lang="en-US" sz="600" dirty="0">
                <a:solidFill>
                  <a:srgbClr val="88888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 Purpose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3740534" y="2574150"/>
            <a:ext cx="1256184" cy="250031"/>
          </a:xfrm>
          <a:prstGeom prst="rect">
            <a:avLst/>
          </a:prstGeom>
          <a:solidFill>
            <a:srgbClr val="FF8A6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4982431" y="2574150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Shape 63"/>
          <p:cNvSpPr/>
          <p:nvPr/>
        </p:nvSpPr>
        <p:spPr>
          <a:xfrm>
            <a:off x="3740534" y="2809894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3740534" y="2574150"/>
            <a:ext cx="1256184" cy="250031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Core flow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600075" y="2824181"/>
            <a:ext cx="1884276" cy="25003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Shape 66"/>
          <p:cNvSpPr/>
          <p:nvPr/>
        </p:nvSpPr>
        <p:spPr>
          <a:xfrm>
            <a:off x="2470063" y="2824181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Shape 67"/>
          <p:cNvSpPr/>
          <p:nvPr/>
        </p:nvSpPr>
        <p:spPr>
          <a:xfrm>
            <a:off x="600075" y="3059925"/>
            <a:ext cx="1884276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Text 68"/>
          <p:cNvSpPr/>
          <p:nvPr/>
        </p:nvSpPr>
        <p:spPr>
          <a:xfrm>
            <a:off x="600075" y="2824181"/>
            <a:ext cx="1884276" cy="250031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Evidence status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Shape 69"/>
          <p:cNvSpPr/>
          <p:nvPr/>
        </p:nvSpPr>
        <p:spPr>
          <a:xfrm>
            <a:off x="2484351" y="2824181"/>
            <a:ext cx="1256184" cy="25003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Shape 70"/>
          <p:cNvSpPr/>
          <p:nvPr/>
        </p:nvSpPr>
        <p:spPr>
          <a:xfrm>
            <a:off x="3726247" y="2824181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Shape 71"/>
          <p:cNvSpPr/>
          <p:nvPr/>
        </p:nvSpPr>
        <p:spPr>
          <a:xfrm>
            <a:off x="2484351" y="3059925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Text 72"/>
          <p:cNvSpPr/>
          <p:nvPr/>
        </p:nvSpPr>
        <p:spPr>
          <a:xfrm>
            <a:off x="2484351" y="2824181"/>
            <a:ext cx="1256184" cy="226088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00" dirty="0">
                <a:solidFill>
                  <a:srgbClr val="888888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May vary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Shape 73"/>
          <p:cNvSpPr/>
          <p:nvPr/>
        </p:nvSpPr>
        <p:spPr>
          <a:xfrm>
            <a:off x="3740534" y="2824181"/>
            <a:ext cx="1256184" cy="250031"/>
          </a:xfrm>
          <a:prstGeom prst="rect">
            <a:avLst/>
          </a:prstGeom>
          <a:solidFill>
            <a:srgbClr val="FF8A6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4982431" y="2824181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8" name="Shape 75"/>
          <p:cNvSpPr/>
          <p:nvPr/>
        </p:nvSpPr>
        <p:spPr>
          <a:xfrm>
            <a:off x="3740534" y="3059925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9" name="Text 76"/>
          <p:cNvSpPr/>
          <p:nvPr/>
        </p:nvSpPr>
        <p:spPr>
          <a:xfrm>
            <a:off x="3740534" y="2824181"/>
            <a:ext cx="1256184" cy="250031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Explicit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Shape 77"/>
          <p:cNvSpPr/>
          <p:nvPr/>
        </p:nvSpPr>
        <p:spPr>
          <a:xfrm>
            <a:off x="600075" y="3074212"/>
            <a:ext cx="1884276" cy="25003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Shape 78"/>
          <p:cNvSpPr/>
          <p:nvPr/>
        </p:nvSpPr>
        <p:spPr>
          <a:xfrm>
            <a:off x="2470063" y="3074212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Shape 79"/>
          <p:cNvSpPr/>
          <p:nvPr/>
        </p:nvSpPr>
        <p:spPr>
          <a:xfrm>
            <a:off x="600075" y="3309956"/>
            <a:ext cx="1884276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Text 80"/>
          <p:cNvSpPr/>
          <p:nvPr/>
        </p:nvSpPr>
        <p:spPr>
          <a:xfrm>
            <a:off x="600075" y="3074212"/>
            <a:ext cx="1884276" cy="250031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Missing information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Shape 81"/>
          <p:cNvSpPr/>
          <p:nvPr/>
        </p:nvSpPr>
        <p:spPr>
          <a:xfrm>
            <a:off x="2484351" y="3074212"/>
            <a:ext cx="1256184" cy="25003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Shape 82"/>
          <p:cNvSpPr/>
          <p:nvPr/>
        </p:nvSpPr>
        <p:spPr>
          <a:xfrm>
            <a:off x="3726247" y="3074212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6" name="Shape 83"/>
          <p:cNvSpPr/>
          <p:nvPr/>
        </p:nvSpPr>
        <p:spPr>
          <a:xfrm>
            <a:off x="2484351" y="3309956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7" name="Text 84"/>
          <p:cNvSpPr/>
          <p:nvPr/>
        </p:nvSpPr>
        <p:spPr>
          <a:xfrm>
            <a:off x="2484351" y="3074212"/>
            <a:ext cx="1256184" cy="226088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00" dirty="0">
                <a:solidFill>
                  <a:srgbClr val="888888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May guess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8" name="Shape 85"/>
          <p:cNvSpPr/>
          <p:nvPr/>
        </p:nvSpPr>
        <p:spPr>
          <a:xfrm>
            <a:off x="3740534" y="3074212"/>
            <a:ext cx="1256184" cy="250031"/>
          </a:xfrm>
          <a:prstGeom prst="rect">
            <a:avLst/>
          </a:prstGeom>
          <a:solidFill>
            <a:srgbClr val="FF8A6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Shape 86"/>
          <p:cNvSpPr/>
          <p:nvPr/>
        </p:nvSpPr>
        <p:spPr>
          <a:xfrm>
            <a:off x="4982431" y="3074212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Shape 87"/>
          <p:cNvSpPr/>
          <p:nvPr/>
        </p:nvSpPr>
        <p:spPr>
          <a:xfrm>
            <a:off x="3740534" y="3309956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Text 88"/>
          <p:cNvSpPr/>
          <p:nvPr/>
        </p:nvSpPr>
        <p:spPr>
          <a:xfrm>
            <a:off x="3740534" y="3074212"/>
            <a:ext cx="1256184" cy="250031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Flagged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2" name="Shape 89"/>
          <p:cNvSpPr/>
          <p:nvPr/>
        </p:nvSpPr>
        <p:spPr>
          <a:xfrm>
            <a:off x="600075" y="3324244"/>
            <a:ext cx="1884276" cy="25003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Shape 90"/>
          <p:cNvSpPr/>
          <p:nvPr/>
        </p:nvSpPr>
        <p:spPr>
          <a:xfrm>
            <a:off x="2470063" y="3324244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" name="Shape 91"/>
          <p:cNvSpPr/>
          <p:nvPr/>
        </p:nvSpPr>
        <p:spPr>
          <a:xfrm>
            <a:off x="600075" y="3559987"/>
            <a:ext cx="1884276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Text 92"/>
          <p:cNvSpPr/>
          <p:nvPr/>
        </p:nvSpPr>
        <p:spPr>
          <a:xfrm>
            <a:off x="600075" y="3324244"/>
            <a:ext cx="1884276" cy="250031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Conflict detection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Shape 93"/>
          <p:cNvSpPr/>
          <p:nvPr/>
        </p:nvSpPr>
        <p:spPr>
          <a:xfrm>
            <a:off x="2484351" y="3324244"/>
            <a:ext cx="1256184" cy="25003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Shape 94"/>
          <p:cNvSpPr/>
          <p:nvPr/>
        </p:nvSpPr>
        <p:spPr>
          <a:xfrm>
            <a:off x="3726247" y="3324244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8" name="Shape 95"/>
          <p:cNvSpPr/>
          <p:nvPr/>
        </p:nvSpPr>
        <p:spPr>
          <a:xfrm>
            <a:off x="2484351" y="3559987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Text 96"/>
          <p:cNvSpPr/>
          <p:nvPr/>
        </p:nvSpPr>
        <p:spPr>
          <a:xfrm>
            <a:off x="2484351" y="3324244"/>
            <a:ext cx="1256184" cy="226088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00" dirty="0">
                <a:solidFill>
                  <a:srgbClr val="888888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Not default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Shape 97"/>
          <p:cNvSpPr/>
          <p:nvPr/>
        </p:nvSpPr>
        <p:spPr>
          <a:xfrm>
            <a:off x="3740534" y="3324244"/>
            <a:ext cx="1256184" cy="250031"/>
          </a:xfrm>
          <a:prstGeom prst="rect">
            <a:avLst/>
          </a:prstGeom>
          <a:solidFill>
            <a:srgbClr val="FF8A6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Shape 98"/>
          <p:cNvSpPr/>
          <p:nvPr/>
        </p:nvSpPr>
        <p:spPr>
          <a:xfrm>
            <a:off x="4982431" y="3324244"/>
            <a:ext cx="14288" cy="250031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Shape 99"/>
          <p:cNvSpPr/>
          <p:nvPr/>
        </p:nvSpPr>
        <p:spPr>
          <a:xfrm>
            <a:off x="3740534" y="3559987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Text 100"/>
          <p:cNvSpPr/>
          <p:nvPr/>
        </p:nvSpPr>
        <p:spPr>
          <a:xfrm>
            <a:off x="3740534" y="3324244"/>
            <a:ext cx="1256184" cy="250031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Surfaced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Shape 101"/>
          <p:cNvSpPr/>
          <p:nvPr/>
        </p:nvSpPr>
        <p:spPr>
          <a:xfrm>
            <a:off x="600075" y="3574275"/>
            <a:ext cx="1884276" cy="368573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Shape 102"/>
          <p:cNvSpPr/>
          <p:nvPr/>
        </p:nvSpPr>
        <p:spPr>
          <a:xfrm>
            <a:off x="2470063" y="3574275"/>
            <a:ext cx="14288" cy="368573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Shape 103"/>
          <p:cNvSpPr/>
          <p:nvPr/>
        </p:nvSpPr>
        <p:spPr>
          <a:xfrm>
            <a:off x="600075" y="3928560"/>
            <a:ext cx="1884276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Text 104"/>
          <p:cNvSpPr/>
          <p:nvPr/>
        </p:nvSpPr>
        <p:spPr>
          <a:xfrm>
            <a:off x="600075" y="3574275"/>
            <a:ext cx="1884276" cy="240900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Source traceability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Shape 105"/>
          <p:cNvSpPr/>
          <p:nvPr/>
        </p:nvSpPr>
        <p:spPr>
          <a:xfrm>
            <a:off x="2484351" y="3574275"/>
            <a:ext cx="1256184" cy="368573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Shape 106"/>
          <p:cNvSpPr/>
          <p:nvPr/>
        </p:nvSpPr>
        <p:spPr>
          <a:xfrm>
            <a:off x="3726247" y="3574275"/>
            <a:ext cx="14288" cy="368573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0" name="Shape 107"/>
          <p:cNvSpPr/>
          <p:nvPr/>
        </p:nvSpPr>
        <p:spPr>
          <a:xfrm>
            <a:off x="2484351" y="3928560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1" name="Text 108"/>
          <p:cNvSpPr/>
          <p:nvPr/>
        </p:nvSpPr>
        <p:spPr>
          <a:xfrm>
            <a:off x="2484351" y="3574275"/>
            <a:ext cx="1256184" cy="226088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00" dirty="0">
                <a:solidFill>
                  <a:srgbClr val="888888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varies</a:t>
            </a: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2" name="Shape 109"/>
          <p:cNvSpPr/>
          <p:nvPr/>
        </p:nvSpPr>
        <p:spPr>
          <a:xfrm>
            <a:off x="3740534" y="3574275"/>
            <a:ext cx="1256184" cy="368573"/>
          </a:xfrm>
          <a:prstGeom prst="rect">
            <a:avLst/>
          </a:prstGeom>
          <a:solidFill>
            <a:srgbClr val="FF8A65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Shape 110"/>
          <p:cNvSpPr/>
          <p:nvPr/>
        </p:nvSpPr>
        <p:spPr>
          <a:xfrm>
            <a:off x="4982431" y="3574275"/>
            <a:ext cx="14288" cy="368573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" name="Shape 111"/>
          <p:cNvSpPr/>
          <p:nvPr/>
        </p:nvSpPr>
        <p:spPr>
          <a:xfrm>
            <a:off x="3740534" y="3928560"/>
            <a:ext cx="1256184" cy="1428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5" name="Text 112"/>
          <p:cNvSpPr/>
          <p:nvPr/>
        </p:nvSpPr>
        <p:spPr>
          <a:xfrm>
            <a:off x="3740534" y="3574275"/>
            <a:ext cx="1256184" cy="344325"/>
          </a:xfrm>
          <a:prstGeom prst="rect">
            <a:avLst/>
          </a:prstGeom>
          <a:noFill/>
          <a:ln/>
        </p:spPr>
        <p:txBody>
          <a:bodyPr wrap="square" lIns="76581" tIns="68072" rIns="76581" bIns="68072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7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Document / page / passage</a:t>
            </a:r>
            <a:endParaRPr 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6" name="Text 113"/>
          <p:cNvSpPr/>
          <p:nvPr/>
        </p:nvSpPr>
        <p:spPr>
          <a:xfrm>
            <a:off x="5439631" y="1159687"/>
            <a:ext cx="3275744" cy="384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RAG enables the system. </a:t>
            </a:r>
            <a:r>
              <a:rPr lang="en-US" sz="1250" b="1" dirty="0">
                <a:solidFill>
                  <a:srgbClr val="FF8A6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The evidence-first workflow is the product.</a:t>
            </a:r>
            <a:endParaRPr lang="en-US" sz="12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Text 114"/>
          <p:cNvSpPr/>
          <p:nvPr/>
        </p:nvSpPr>
        <p:spPr>
          <a:xfrm>
            <a:off x="5439631" y="1849059"/>
            <a:ext cx="3275744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1 · Compare, don’t just summarize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Text 115"/>
          <p:cNvSpPr/>
          <p:nvPr/>
        </p:nvSpPr>
        <p:spPr>
          <a:xfrm>
            <a:off x="5439631" y="2034797"/>
            <a:ext cx="3275744" cy="272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Normalize rates, fees, repayment rules, exclusions, and eligibility into a decision-ready view.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Text 116"/>
          <p:cNvSpPr/>
          <p:nvPr/>
        </p:nvSpPr>
        <p:spPr>
          <a:xfrm>
            <a:off x="5439631" y="2536199"/>
            <a:ext cx="3275744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2 · Calculate, don’t improvise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Text 117"/>
          <p:cNvSpPr/>
          <p:nvPr/>
        </p:nvSpPr>
        <p:spPr>
          <a:xfrm>
            <a:off x="5439631" y="2721936"/>
            <a:ext cx="3275744" cy="272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Use structured inputs and a deterministic cost engine before asking the LLM to explain.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1" name="Text 118"/>
          <p:cNvSpPr/>
          <p:nvPr/>
        </p:nvSpPr>
        <p:spPr>
          <a:xfrm>
            <a:off x="5439631" y="3223338"/>
            <a:ext cx="3275744" cy="138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D2D2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3 · Know when not to answer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2" name="Text 119"/>
          <p:cNvSpPr/>
          <p:nvPr/>
        </p:nvSpPr>
        <p:spPr>
          <a:xfrm>
            <a:off x="5439631" y="3409076"/>
            <a:ext cx="3275744" cy="272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66666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Return “Not specified” or “Conflict detected” when the evidence does not support a safe conclusion.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4" name="Text 121"/>
          <p:cNvSpPr/>
          <p:nvPr/>
        </p:nvSpPr>
        <p:spPr>
          <a:xfrm>
            <a:off x="5439631" y="4810590"/>
            <a:ext cx="3275744" cy="923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endParaRPr 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A9113409-2EF3-3415-3A92-D2101055F49B}"/>
              </a:ext>
            </a:extLst>
          </p:cNvPr>
          <p:cNvSpPr txBox="1"/>
          <p:nvPr/>
        </p:nvSpPr>
        <p:spPr>
          <a:xfrm>
            <a:off x="505253" y="4328833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Source:</a:t>
            </a: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Federal Reserve, </a:t>
            </a:r>
            <a:r>
              <a:rPr lang="en-US" sz="8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SHED 2025</a:t>
            </a: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May 2026.</a:t>
            </a:r>
          </a:p>
          <a:p>
            <a:pPr>
              <a:buNone/>
            </a:pPr>
            <a:r>
              <a:rPr lang="en-US" sz="800" b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Source:</a:t>
            </a: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FINRA Foundation, </a:t>
            </a:r>
            <a:r>
              <a:rPr lang="en-US" sz="8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NFCS 2024</a:t>
            </a: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April 2025.</a:t>
            </a:r>
          </a:p>
          <a:p>
            <a:pPr>
              <a:buNone/>
            </a:pPr>
            <a:r>
              <a:rPr lang="en-US" sz="800" b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Source:</a:t>
            </a: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CFPB, </a:t>
            </a:r>
            <a:r>
              <a:rPr lang="en-US" sz="8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 Credit Card Market Report 2025</a:t>
            </a:r>
            <a:r>
              <a:rPr lang="en-US" sz="8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December 2025.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267449" y="3950114"/>
            <a:ext cx="3762982" cy="952809"/>
          </a:xfrm>
          <a:prstGeom prst="roundRect">
            <a:avLst/>
          </a:prstGeom>
          <a:solidFill>
            <a:srgbClr val="FFF3E8"/>
          </a:solidFill>
          <a:ln w="12700">
            <a:solidFill>
              <a:srgbClr val="F47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5267449" y="4191072"/>
            <a:ext cx="862699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dirty="0">
                <a:solidFill>
                  <a:srgbClr val="F47B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IS UNIQUE?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992503" y="4042421"/>
            <a:ext cx="3151497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just RAG or PDF Q&amp;A: </a:t>
            </a:r>
            <a:r>
              <a:rPr sz="1050" b="1" dirty="0" err="1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FinExplain</a:t>
            </a:r>
            <a:r>
              <a:rPr sz="1050" b="1" dirty="0">
                <a:solidFill>
                  <a:srgbClr val="1B20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combines evidence retrieval, deterministic loan-cost calculation, explicit uncertainty and claim-level verification into one decision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1816</Words>
  <Application>Microsoft Office PowerPoint</Application>
  <PresentationFormat>On-screen Show (16:9)</PresentationFormat>
  <Paragraphs>313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Samadhan Mane</cp:lastModifiedBy>
  <cp:revision>5</cp:revision>
  <dcterms:created xsi:type="dcterms:W3CDTF">2026-08-13T15:52:54Z</dcterms:created>
  <dcterms:modified xsi:type="dcterms:W3CDTF">2026-08-17T07:44:39Z</dcterms:modified>
</cp:coreProperties>
</file>