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</a:defRPr>
            </a:pPr>
            <a:r>
              <a:t>EVIDENCE-FIRST AI FOR COMPLEX CREDIT AGREEMENTS &amp; KFS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FinExplain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Zero-Hallucination Financial RAG • Verbatim Page Citations • Deterministic Math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49039"/>
            <a:ext cx="320040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38404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100% Faithfulness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Zero hallucinations across 25 benchmark audits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749039"/>
            <a:ext cx="320040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38404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88.5% Covenant Recall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Preserves GST, 12-EMI lock-ins &amp; notice terms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749039"/>
            <a:ext cx="320040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38404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90.7% Citation Accuracy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Deterministic claim-to-chunk page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Team CodeFlex:  Samadhan Mane  •  Sakshi Bhingarkar  •  Pranav Karande   |   Model: Google Gemini 3.5 Flash 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01 •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Problem: Why Generic RAG Fails on Real Financial Contracts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1. The 'Lost Qualifier' Flaw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Generic LLMs summarize text and discard crucial fine print: '+ 18% GST', '12-EMI lock-in', '30-day written notice'.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Result: Borrowers face unexpected penalties of thousands of rupees when prepaying or switching loans.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Traditional RAG benchmark: Drops ~50% of nested contractual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</a:defRPr>
            </a:pPr>
            <a:r>
              <a:t>2. Arithmetic Hallucinations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LLMs cannot perform reliable multi-step financial math (EPI schedules, broken period interest, foreclosure charges).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Raw LLM math yields ₹2.25 to ₹50+ errors per calculation.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Fatal for credit underwriters who require exact statutory compliance and balance reconciliation.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855F7"/>
                </a:solidFill>
              </a:defRPr>
            </a:pPr>
            <a:r>
              <a:t>3. Opaque Citations &amp; Guessing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Standard chatbots provide a single generic citation at the end of answers, leaving 50% of claims unverified.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Blindly answers unanswerable queries instead of abstaining when evidence is missing.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Causes fatal legal exposure for regulated lending and audit institutions.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02 • MARKET &amp; REGULATORY URGENCY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Why This Matters: Financial Literacy Gaps &amp; Regulatory Scrutiny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2011680"/>
          </a:xfrm>
          <a:prstGeom prst="roundRect">
            <a:avLst/>
          </a:prstGeom>
          <a:solidFill>
            <a:srgbClr val="161E3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</a:defRPr>
            </a:pPr>
            <a:r>
              <a:t>THE COST OF OPAQUE LOAN AGREEMENTS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50+ Page Loan Agreements: Borrowers sign multi-tier contracts without discovering hidden lock-ins or reset spreads.</a:t>
            </a:r>
            <a:br/>
            <a:r>
              <a:t>• RBI Key Fact Statement (KFS) Mandate: Regulators require transparent, standardized APR and fee disclosures across all lenders.</a:t>
            </a:r>
            <a:br/>
            <a:r>
              <a:t>• 70%+ of Consumer Complaints: Stem from unexpected foreclosure charges, broken-period fees, and interest benchmark variation.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212080" cy="25603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199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Retail &amp; SME Borrowers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Need instant plain-English explanations with direct page references.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Compare total scenario costs before signing binding legal commitments.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Detect discrepancy between loan sanction letter and master agreement.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49039"/>
            <a:ext cx="5212080" cy="25603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886199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Credit Underwriters &amp; Compliance Officers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Audit Key Fact Statements (KFS) against sanctioned credit limits in seconds.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Automated covenant extraction (DSCR ratios, hypothecation, debt caps).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Deterministic audit trail backed by Human-in-the-Loop review queue.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03 • PRODUCT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Solution: Grounded, Explainable Financial RAG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05740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691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1. Ingest &amp; Structure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PyMuPDF sanitizes PDFs, extracts tables into Markdown, and saves core facts to loan_facts.json.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463040"/>
            <a:ext cx="205740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1" y="1600200"/>
            <a:ext cx="1691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855F7"/>
                </a:solidFill>
              </a:defRPr>
            </a:pPr>
            <a:r>
              <a:t>2. Hybrid Retrieve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Concurrent Pinecone Serverless (384d dense) + Supabase BM25 sparse search for exact terms.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463040"/>
            <a:ext cx="205740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6944" y="1600200"/>
            <a:ext cx="1691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3. Neural Re-Rank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ms-marco cross-encoder jointly scores query-chunk pairs, boosting operative clauses (MRR: 0.88).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463040"/>
            <a:ext cx="205740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3216" y="1600200"/>
            <a:ext cx="1691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4. Deterministic Math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Python financial math computes APR, EPI, and foreclosure costs with 100% numerical exactness.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463040"/>
            <a:ext cx="205740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19488" y="1600200"/>
            <a:ext cx="1691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5. Verify &amp; Ground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Claim Verifier checks chunk pages; &lt;30 triggers refusal, &lt;70% routes to HITL compliance queue.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04 • TECHNICAL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Production Architecture: 6-Layer Modular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694944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Layer 1: Client Application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Vite + React 18 + TypeScript + Tailwind CSS | Interactive PDF Viewer &amp; Citation Inspector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67712"/>
            <a:ext cx="10728655" cy="694944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Layer 2: API Gateway &amp; Security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FastAPI + SlowAPI Rate Limiting (60 req/min) + InjectionGuard + PiiGuard (PAN/Aadhaar)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72384"/>
            <a:ext cx="10728655" cy="694944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18104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Layer 3: Parsing &amp; Facts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PyMuPDF Layout Detection + Markdown Table Extractor + Semantic Chunker (512 tokens)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77056"/>
            <a:ext cx="10728655" cy="694944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22776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Layer 4: Dual Storage Layer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Pinecone Serverless Vector DB (Dense Embeddings) + Supabase PostgreSQL (BM25 Sparse Search)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81728"/>
            <a:ext cx="10728655" cy="694944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2744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Layer 5: Reranking &amp; Context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Multi-Tier Router (4 Tiers) + ms-marco Cross-Encoder + Clause Context Builder (≤ 2000 tok)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728655" cy="694944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Layer 6: Generation &amp; Safety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Google Gemini 3.5 Flash Lite + Completeness Retry Loop + 7-Dimension Scorer + HITL Queue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05 • VERIFICATION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Trust is a Product Feature: Zero-Hallucination Verification &amp; HITL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Deterministic Claim Verifier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Splits LLM generated response into discrete atomic claims.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Asymmetric Word Containment: Measures claim words subset in source chunk (≥ 0.55 threshold).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Coordinate Mapping: Checks that cited [Doc, Page X, Section Y] actually exists on retrieved chunk.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7-Dimension Scorer: Evaluates retrieval similarity, chunk coverage, citation presence, and consistency.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Hard Safety Gate: Automatically refuses delivery if Evidence Score &lt; 30 ('Insufficient Evidence').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Human-in-the-Loop (HITL) Governance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&lt; 70% Confidence Routing Gate: Queries with evidence scores between 30% and 69% route to compliance review queue.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Conflict Detection: Highlights discrepancies between sanction letters (e.g. 10.5%) and master agreements (e.g. 14.0%).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Immutable Audit Logging: Full trace of chunk IDs, re-ranking scores, model prompt, and reviewer approvals.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Regulatory Compliance: Aligned with RBI &amp; financial consumer protection disclosure standards.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06 • SCENARIO SIMULATION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Killer Scenario: Which Loan is Actually Cheaper?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61E3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645920"/>
          <a:ext cx="1036289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926080"/>
                <a:gridCol w="2681935"/>
              </a:tblGrid>
              <a:tr h="7162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</a:defRPr>
                      </a:pPr>
                      <a:r>
                        <a:t>Evaluation 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</a:defRPr>
                      </a:pPr>
                      <a:r>
                        <a:t>Product A (Axis LAP)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</a:defRPr>
                      </a:pPr>
                      <a:r>
                        <a:t>Product B (South Indian Bank PL)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</a:defRPr>
                      </a:pPr>
                      <a:r>
                        <a:t>FinExplain Audit Finding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Headline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10.50% p.a. (Fixed)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11.25% p.a. (Floating spread)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Product A has lower base rate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Processing Fee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1.00% + 18% GST (₹11,800)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Fixed ₹2,500 upfront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Product B is ₹9,300 cheaper upfront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Foreclosure Lock-in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No prepayment for first 12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Prepayment allowed with 30-day notice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Product A locks borrower for 1 year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Foreclosure Charge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3.00% + GST on prepaid principal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Zero foreclosure fee after 12 EMIs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Product B saves ₹35,400 on exit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6-Month Prepay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₹1,24,600 (Total outgo with penalty)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₹1,14,200 (Total outgo)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🟢 Product B is ₹10,400 CHEAPER!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07 • BENCHMARK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Production Evaluation Scorecard: 25-Query Benchmark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56432" cy="22402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0B981"/>
                </a:solidFill>
              </a:defRPr>
            </a:pPr>
            <a:r>
              <a:t>100.0%</a:t>
            </a: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Faithfulness Rate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Zero hallucinations across 25 queries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56432" cy="22402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45920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06B6D4"/>
                </a:solidFill>
              </a:defRPr>
            </a:pPr>
            <a:r>
              <a:t>88.5%</a:t>
            </a: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Covenant Gen Recall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Preserves GST, lock-ins &amp; notice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463040"/>
            <a:ext cx="3456432" cy="22402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645920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A855F7"/>
                </a:solidFill>
              </a:defRPr>
            </a:pPr>
            <a:r>
              <a:t>81.7%</a:t>
            </a: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Claim Citation Coverage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Per-sentence inline citations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3456432" cy="22402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0B981"/>
                </a:solidFill>
              </a:defRPr>
            </a:pPr>
            <a:r>
              <a:t>90.7%</a:t>
            </a: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Citation Accuracy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Verified against chunk page metadata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886200"/>
            <a:ext cx="3456432" cy="22402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4069080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06B6D4"/>
                </a:solidFill>
              </a:defRPr>
            </a:pPr>
            <a:r>
              <a:t>4.95s</a:t>
            </a: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P50 Median Latency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Sub-5s complete verification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3886200"/>
            <a:ext cx="3456432" cy="22402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4069080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0B981"/>
                </a:solidFill>
              </a:defRPr>
            </a:pPr>
            <a:r>
              <a:t>~$0.000085</a:t>
            </a: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Unit Cost / Query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Ultra-low Gemini 3.5 Flash Lite economics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08 • COMPETITIVE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Competitive Advantage: Why FinExplain is More Than a Document Chatbot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560320"/>
                <a:gridCol w="3596335"/>
              </a:tblGrid>
              <a:tr h="67926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</a:defRPr>
                      </a:pPr>
                      <a:r>
                        <a:t>Capability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</a:defRPr>
                      </a:pPr>
                      <a:r>
                        <a:t>Generic AI / Chatbots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</a:defRPr>
                      </a:pPr>
                      <a:r>
                        <a:t>Traditional Enterprise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</a:defRPr>
                      </a:pPr>
                      <a:r>
                        <a:t>FinExplain Financial RAG</a:t>
                      </a:r>
                    </a:p>
                  </a:txBody>
                  <a:tcPr anchor="ctr"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Retrieval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Single vector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Dense vector only (Chroma)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Hybrid Pinecone + Supabase BM25 (0.88 MRR)</a:t>
                      </a:r>
                    </a:p>
                  </a:txBody>
                  <a:tcPr anchor="ctr"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Condition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Summarizes &amp; drops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Drops 50% of qualifiers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88.5% Covenant Preservation (Taxes, Lock-ins)</a:t>
                      </a:r>
                    </a:p>
                  </a:txBody>
                  <a:tcPr anchor="ctr"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Citation Verifiability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Generic link at bottom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Chunk-level 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Per-sentence [Doc, Page X, Section Y] (90.7%)</a:t>
                      </a:r>
                    </a:p>
                  </a:txBody>
                  <a:tcPr anchor="ctr"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Math &amp; Fee Calculations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LLM hallucinated numbers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LLM arithmetic (high error)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Deterministic Python Financial Engine (₹0.00 MAE)</a:t>
                      </a:r>
                    </a:p>
                  </a:txBody>
                  <a:tcPr anchor="ctr"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Borderline Uncertainty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Blindly guesses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Blindly guesses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Hard Refusal (&lt;30) + &lt;70% HITL Compliance Queue</a:t>
                      </a:r>
                    </a:p>
                  </a:txBody>
                  <a:tcPr anchor="ctr"/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Security &amp; Privacy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None (Direct prompt)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Basic prompt prefix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SlowAPI Rate Limiter + InjectionGuard + PiiGuard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09 • FUTURE ROADMAP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Roadmap: Expanding the Financial Verification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1. Vision-Based Table Extraction (Q4 2026)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Integrate multimodal vision parsers (LayoutLMv3 / Gemini Multimodal) for scanned, multi-nested amortization grids.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Zero OCR column-misalignment on complex loan pricing matrices.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855F7"/>
                </a:solidFill>
              </a:defRPr>
            </a:pPr>
            <a:r>
              <a:t>2. Temporal Contract Diff Graphs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Automated contract diffing that tracks loan addendums across time.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Master Agreement → Addendum 1 → Sanction Revision with visual covenant change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3. Real-Time RBI Regulatory Validator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Automated compliance checkers verifying Key Fact Statements against statutory Reserve Bank of India (RBI) mandates.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Instant alerts on non-compliant penal interest formulas.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4. Sub-Second Streaming &amp; Model Fine-Tuning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Server-Sent Events (SSE) streaming delivering Time-to-First-Token in &lt; 800ms.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Domain-specific fine-tuning on credit contracts pushing Context Recall &gt; 92%.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